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37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006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大家好，我们今天展示的是实验二十七，磁混沌摆。</a:t>
            </a:r>
          </a:p>
          <a:p>
            <a:endParaRPr lang="zh-CN" dirty="0"/>
          </a:p>
          <a:p>
            <a:r>
              <a:rPr lang="zh-CN" dirty="0"/>
              <a:t>这个实验看起来很简单：一个带磁性的摆锤，下面有三个磁铁。我们要观察的是，把小球从偏离平衡的位置释放后，它为什么会走出很复杂的轨迹，并且最后停在某一个磁铁上方。</a:t>
            </a:r>
          </a:p>
          <a:p>
            <a:endParaRPr lang="zh-CN" dirty="0"/>
          </a:p>
          <a:p>
            <a:r>
              <a:rPr lang="zh-CN" dirty="0"/>
              <a:t>这次视频会按照现象观察、视频演示、装置组成、原理解释和结论总结的顺序来讲。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先看实验现象。普通单摆释放以后，轨迹一般比较规则，主要是在一个方向上来回摆动。</a:t>
            </a:r>
          </a:p>
          <a:p>
            <a:endParaRPr lang="zh-CN" dirty="0"/>
          </a:p>
          <a:p>
            <a:r>
              <a:rPr lang="zh-CN" dirty="0"/>
              <a:t>但是磁混沌摆不一样。小球会不断改变方向，有时靠近一个磁铁，有时又被另一个磁铁影响，轨迹会出现弯曲、折返和突然转向。</a:t>
            </a:r>
          </a:p>
          <a:p>
            <a:endParaRPr lang="zh-CN" dirty="0"/>
          </a:p>
          <a:p>
            <a:r>
              <a:rPr lang="zh-CN" dirty="0"/>
              <a:t>同时，由于空气阻力和摩擦会消耗能量，小球不会一直运动。经过一段时间后，它会逐渐慢下来，并最终停在某一个磁铁上方。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接下来观察第一段实验演示。</a:t>
            </a:r>
          </a:p>
          <a:p>
            <a:endParaRPr lang="zh-CN" dirty="0"/>
          </a:p>
          <a:p>
            <a:r>
              <a:rPr lang="zh-CN" dirty="0"/>
              <a:t>小球从偏离中心的位置释放后，刚开始还像普通单摆一样运动，但很快就会受到下方磁铁的影响，轨迹开始偏转。</a:t>
            </a:r>
          </a:p>
          <a:p>
            <a:endParaRPr lang="zh-CN" dirty="0"/>
          </a:p>
          <a:p>
            <a:r>
              <a:rPr lang="zh-CN" dirty="0"/>
              <a:t>观看重点是：它不是沿着固定圆弧来回摆动，而是很快出现转向和绕行，这也是后面复杂运动的开始。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这个装置主要有三个部分。</a:t>
            </a:r>
          </a:p>
          <a:p>
            <a:endParaRPr lang="zh-CN" dirty="0"/>
          </a:p>
          <a:p>
            <a:r>
              <a:rPr lang="zh-CN" dirty="0"/>
              <a:t>第一是摆锤，它带有磁性，所以会受到下面磁铁的作用。第二是底板上的三个磁铁，它们分布在不同位置。第三是支架和细线，它们让摆锤可以自由摆动。</a:t>
            </a:r>
          </a:p>
          <a:p>
            <a:endParaRPr lang="zh-CN" dirty="0"/>
          </a:p>
          <a:p>
            <a:r>
              <a:rPr lang="zh-CN" dirty="0"/>
              <a:t>实验操作时，我们从一个非平衡位置释放摆锤。因为摆锤一开始的位置不同，它和三个磁铁的距离也不同，所以受到的磁力方向会不断变化。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磁混沌摆不是没有规律地乱动，而是多种力共同作用的结果。</a:t>
            </a:r>
          </a:p>
          <a:p>
            <a:endParaRPr lang="zh-CN" dirty="0"/>
          </a:p>
          <a:p>
            <a:r>
              <a:rPr lang="zh-CN" dirty="0"/>
              <a:t>重力让摆锤倾向于回到最低位置；磁力从不同方向吸引或影响摆锤；阻力和摩擦不断消耗能量，让小球最终停下来。</a:t>
            </a:r>
          </a:p>
          <a:p>
            <a:endParaRPr lang="zh-CN" dirty="0"/>
          </a:p>
          <a:p>
            <a:r>
              <a:rPr lang="zh-CN" dirty="0"/>
              <a:t>最关键的是非线性。小球的位置只要差一点，它和三个磁铁的距离就都会变化，受力方向也会变化。这样的微小差别会在后面的运动中被放大。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这一段演示展示的是小球绕来绕去、不断改变轨迹的过程。</a:t>
            </a:r>
          </a:p>
          <a:p>
            <a:endParaRPr lang="zh-CN" dirty="0"/>
          </a:p>
          <a:p>
            <a:r>
              <a:rPr lang="zh-CN" dirty="0"/>
              <a:t>所谓混沌，并不是完全随机。小球每一刻仍然受重力、磁力和阻力控制，这些规律是确定的。</a:t>
            </a:r>
          </a:p>
          <a:p>
            <a:endParaRPr lang="zh-CN" dirty="0"/>
          </a:p>
          <a:p>
            <a:r>
              <a:rPr lang="zh-CN" dirty="0"/>
              <a:t>但是它对初始条件非常敏感。释放位置、角度或者速度只要有一点点不同，后面的轨迹就可能明显不同，最后停留的位置也可能不同。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最后总结一下。</a:t>
            </a:r>
          </a:p>
          <a:p>
            <a:endParaRPr lang="zh-CN" dirty="0"/>
          </a:p>
          <a:p>
            <a:r>
              <a:rPr lang="zh-CN" dirty="0"/>
              <a:t>磁混沌摆虽然装置简单，但它能产生很复杂的运动。原因是摆锤同时受到重力、多个磁铁的磁力以及阻力的影响，其中磁力随位置变化很快，使系统对初始条件非常敏感。</a:t>
            </a:r>
          </a:p>
          <a:p>
            <a:endParaRPr lang="zh-CN" dirty="0"/>
          </a:p>
          <a:p>
            <a:r>
              <a:rPr lang="zh-CN" dirty="0"/>
              <a:t>这个实验告诉我们，复杂现象背后并不一定没有规律。规律仍然存在，只是长期预测需要非常精确的初始信息。</a:t>
            </a:r>
          </a:p>
          <a:p>
            <a:endParaRPr lang="zh-CN" dirty="0"/>
          </a:p>
          <a:p>
            <a:r>
              <a:rPr lang="zh-CN" dirty="0"/>
              <a:t>最后观察小球逐渐变慢并停在某个磁铁上方的画面，可以看到阻力和摩擦最终让系统稳定下来。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09600" y="514350"/>
            <a:ext cx="10972800" cy="5829300"/>
          </a:xfrm>
          <a:custGeom>
            <a:avLst/>
            <a:gdLst/>
            <a:ahLst/>
            <a:cxnLst/>
            <a:rect l="l" t="t" r="r" b="b"/>
            <a:pathLst>
              <a:path w="10972800" h="5829300">
                <a:moveTo>
                  <a:pt x="266700" y="0"/>
                </a:moveTo>
                <a:lnTo>
                  <a:pt x="10706100" y="0"/>
                </a:lnTo>
                <a:cubicBezTo>
                  <a:pt x="10853394" y="0"/>
                  <a:pt x="10972800" y="119406"/>
                  <a:pt x="10972800" y="266700"/>
                </a:cubicBezTo>
                <a:lnTo>
                  <a:pt x="10972800" y="5562600"/>
                </a:lnTo>
                <a:cubicBezTo>
                  <a:pt x="10972800" y="5709894"/>
                  <a:pt x="10853394" y="5829300"/>
                  <a:pt x="10706100" y="5829300"/>
                </a:cubicBezTo>
                <a:lnTo>
                  <a:pt x="266700" y="5829300"/>
                </a:lnTo>
                <a:cubicBezTo>
                  <a:pt x="119406" y="5829300"/>
                  <a:pt x="0" y="5709894"/>
                  <a:pt x="0" y="5562600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BD5E1"/>
            </a:solidFill>
          </a:ln>
        </p:spPr>
      </p:sp>
      <p:sp>
        <p:nvSpPr>
          <p:cNvPr id="4" name="Freeform 4"/>
          <p:cNvSpPr/>
          <p:nvPr/>
        </p:nvSpPr>
        <p:spPr>
          <a:xfrm>
            <a:off x="609600" y="514350"/>
            <a:ext cx="10972800" cy="1219200"/>
          </a:xfrm>
          <a:custGeom>
            <a:avLst/>
            <a:gdLst/>
            <a:ahLst/>
            <a:cxnLst/>
            <a:rect l="l" t="t" r="r" b="b"/>
            <a:pathLst>
              <a:path w="10972800" h="1219200">
                <a:moveTo>
                  <a:pt x="266700" y="0"/>
                </a:moveTo>
                <a:lnTo>
                  <a:pt x="10706100" y="0"/>
                </a:lnTo>
                <a:cubicBezTo>
                  <a:pt x="10853394" y="0"/>
                  <a:pt x="10972800" y="119406"/>
                  <a:pt x="10972800" y="266700"/>
                </a:cubicBezTo>
                <a:lnTo>
                  <a:pt x="10972800" y="952500"/>
                </a:lnTo>
                <a:cubicBezTo>
                  <a:pt x="10972800" y="1099794"/>
                  <a:pt x="10853394" y="1219200"/>
                  <a:pt x="10706100" y="1219200"/>
                </a:cubicBezTo>
                <a:lnTo>
                  <a:pt x="266700" y="1219200"/>
                </a:lnTo>
                <a:cubicBezTo>
                  <a:pt x="119406" y="1219200"/>
                  <a:pt x="0" y="1099794"/>
                  <a:pt x="0" y="952500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>
            <a:srgbClr val="EEF6FF"/>
          </a:solidFill>
          <a:ln w="19050">
            <a:solidFill>
              <a:srgbClr val="CBD5E1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solidFill>
            <a:srgbClr val="EEF6FF"/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1051560" y="895350"/>
            <a:ext cx="2628900" cy="3790950"/>
            <a:chOff x="1051560" y="895350"/>
            <a:chExt cx="2628900" cy="3790950"/>
          </a:xfrm>
        </p:grpSpPr>
        <p:sp>
          <p:nvSpPr>
            <p:cNvPr id="6" name="Freeform 6"/>
            <p:cNvSpPr/>
            <p:nvPr/>
          </p:nvSpPr>
          <p:spPr>
            <a:xfrm>
              <a:off x="1066800" y="895350"/>
              <a:ext cx="1181100" cy="400050"/>
            </a:xfrm>
            <a:custGeom>
              <a:avLst/>
              <a:gdLst/>
              <a:ahLst/>
              <a:cxnLst/>
              <a:rect l="l" t="t" r="r" b="b"/>
              <a:pathLst>
                <a:path w="1181100" h="400050">
                  <a:moveTo>
                    <a:pt x="200025" y="0"/>
                  </a:moveTo>
                  <a:lnTo>
                    <a:pt x="981075" y="0"/>
                  </a:lnTo>
                  <a:cubicBezTo>
                    <a:pt x="1091546" y="0"/>
                    <a:pt x="1181100" y="89554"/>
                    <a:pt x="1181100" y="200025"/>
                  </a:cubicBezTo>
                  <a:lnTo>
                    <a:pt x="1181100" y="200025"/>
                  </a:lnTo>
                  <a:cubicBezTo>
                    <a:pt x="1181100" y="310496"/>
                    <a:pt x="1091546" y="400050"/>
                    <a:pt x="981075" y="400050"/>
                  </a:cubicBezTo>
                  <a:lnTo>
                    <a:pt x="200025" y="400050"/>
                  </a:lnTo>
                  <a:cubicBezTo>
                    <a:pt x="89554" y="400050"/>
                    <a:pt x="0" y="310496"/>
                    <a:pt x="0" y="200025"/>
                  </a:cubicBezTo>
                  <a:lnTo>
                    <a:pt x="0" y="200025"/>
                  </a:lnTo>
                  <a:cubicBezTo>
                    <a:pt x="0" y="89554"/>
                    <a:pt x="89554" y="0"/>
                    <a:pt x="200025" y="0"/>
                  </a:cubicBezTo>
                  <a:close/>
                </a:path>
              </a:pathLst>
            </a:custGeom>
            <a:solidFill>
              <a:srgbClr val="0D948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56474" y="1032510"/>
              <a:ext cx="6017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实验 27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1560" y="25946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磁混沌摆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89660" y="3147060"/>
              <a:ext cx="22147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小球为什么会走出复杂轨迹？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89660" y="356616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最后为什么会停在某一个磁铁上方？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66800" y="4171950"/>
              <a:ext cx="2590800" cy="514350"/>
            </a:xfrm>
            <a:custGeom>
              <a:avLst/>
              <a:gdLst/>
              <a:ahLst/>
              <a:cxnLst/>
              <a:rect l="l" t="t" r="r" b="b"/>
              <a:pathLst>
                <a:path w="2590800" h="514350">
                  <a:moveTo>
                    <a:pt x="257175" y="0"/>
                  </a:moveTo>
                  <a:lnTo>
                    <a:pt x="2333625" y="0"/>
                  </a:lnTo>
                  <a:cubicBezTo>
                    <a:pt x="2475659" y="0"/>
                    <a:pt x="2590800" y="115141"/>
                    <a:pt x="2590800" y="257175"/>
                  </a:cubicBezTo>
                  <a:lnTo>
                    <a:pt x="2590800" y="257175"/>
                  </a:lnTo>
                  <a:cubicBezTo>
                    <a:pt x="2590800" y="399209"/>
                    <a:pt x="2475659" y="514350"/>
                    <a:pt x="2333625" y="514350"/>
                  </a:cubicBezTo>
                  <a:lnTo>
                    <a:pt x="257175" y="514350"/>
                  </a:lnTo>
                  <a:cubicBezTo>
                    <a:pt x="115141" y="514350"/>
                    <a:pt x="0" y="399209"/>
                    <a:pt x="0" y="257175"/>
                  </a:cubicBezTo>
                  <a:lnTo>
                    <a:pt x="0" y="257175"/>
                  </a:lnTo>
                  <a:cubicBezTo>
                    <a:pt x="0" y="115141"/>
                    <a:pt x="115141" y="0"/>
                    <a:pt x="257175" y="0"/>
                  </a:cubicBezTo>
                  <a:close/>
                </a:path>
              </a:pathLst>
            </a:cu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71488" y="4375785"/>
              <a:ext cx="11814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5 分钟讲解视频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10350" y="1162050"/>
            <a:ext cx="3962400" cy="4419600"/>
            <a:chOff x="6610350" y="1162050"/>
            <a:chExt cx="3962400" cy="4419600"/>
          </a:xfrm>
        </p:grpSpPr>
        <p:sp>
          <p:nvSpPr>
            <p:cNvPr id="14" name="Ellipse 14"/>
            <p:cNvSpPr/>
            <p:nvPr/>
          </p:nvSpPr>
          <p:spPr>
            <a:xfrm>
              <a:off x="6610350" y="1619250"/>
              <a:ext cx="3962400" cy="3962400"/>
            </a:xfrm>
            <a:prstGeom prst="ellipse">
              <a:avLst/>
            </a:prstGeom>
            <a:solidFill>
              <a:srgbClr val="EEF6FF"/>
            </a:solidFill>
            <a:ln w="28575">
              <a:solidFill>
                <a:srgbClr val="CBD5E1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7162800" y="2171700"/>
              <a:ext cx="2857500" cy="2857500"/>
            </a:xfrm>
            <a:prstGeom prst="ellipse">
              <a:avLst/>
            </a:prstGeom>
            <a:solidFill>
              <a:srgbClr val="FFFFFF">
                <a:alpha val="52000"/>
              </a:srgbClr>
            </a:solidFill>
            <a:ln w="19050">
              <a:solidFill>
                <a:srgbClr val="D9E2EC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734300" y="1162050"/>
              <a:ext cx="857250" cy="2133600"/>
            </a:xfrm>
            <a:custGeom>
              <a:avLst/>
              <a:gdLst/>
              <a:ahLst/>
              <a:cxnLst/>
              <a:rect l="l" t="t" r="r" b="b"/>
              <a:pathLst>
                <a:path w="857250" h="2133600">
                  <a:moveTo>
                    <a:pt x="857250" y="0"/>
                  </a:moveTo>
                  <a:lnTo>
                    <a:pt x="0" y="2133600"/>
                  </a:lnTo>
                </a:path>
              </a:pathLst>
            </a:custGeom>
            <a:noFill/>
            <a:ln w="47625">
              <a:solidFill>
                <a:srgbClr val="526070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7486650" y="3048000"/>
              <a:ext cx="495300" cy="495300"/>
            </a:xfrm>
            <a:prstGeom prst="ellipse">
              <a:avLst/>
            </a:prstGeom>
            <a:solidFill>
              <a:srgbClr val="FACC15"/>
            </a:solidFill>
            <a:ln w="38100">
              <a:solidFill>
                <a:srgbClr val="EA580C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210550" y="1924050"/>
              <a:ext cx="762000" cy="7620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2563E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30104" y="228028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N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800850" y="4095750"/>
              <a:ext cx="762000" cy="7620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0D948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20404" y="445198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N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9620250" y="4095750"/>
              <a:ext cx="762000" cy="7620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EA580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939804" y="445198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S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105650" y="1943100"/>
              <a:ext cx="1485900" cy="1352550"/>
            </a:xfrm>
            <a:custGeom>
              <a:avLst/>
              <a:gdLst/>
              <a:ahLst/>
              <a:cxnLst/>
              <a:rect l="l" t="t" r="r" b="b"/>
              <a:pathLst>
                <a:path w="1485900" h="1352550">
                  <a:moveTo>
                    <a:pt x="628650" y="1352550"/>
                  </a:moveTo>
                  <a:cubicBezTo>
                    <a:pt x="0" y="723900"/>
                    <a:pt x="381000" y="0"/>
                    <a:pt x="1485900" y="361950"/>
                  </a:cubicBezTo>
                </a:path>
              </a:pathLst>
            </a:custGeom>
            <a:noFill/>
            <a:ln w="57150">
              <a:solidFill>
                <a:srgbClr val="2563EB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724650" y="3295650"/>
              <a:ext cx="1009650" cy="1200150"/>
            </a:xfrm>
            <a:custGeom>
              <a:avLst/>
              <a:gdLst/>
              <a:ahLst/>
              <a:cxnLst/>
              <a:rect l="l" t="t" r="r" b="b"/>
              <a:pathLst>
                <a:path w="1009650" h="1200150">
                  <a:moveTo>
                    <a:pt x="1009650" y="0"/>
                  </a:moveTo>
                  <a:cubicBezTo>
                    <a:pt x="0" y="438150"/>
                    <a:pt x="0" y="1200150"/>
                    <a:pt x="457200" y="1181100"/>
                  </a:cubicBezTo>
                </a:path>
              </a:pathLst>
            </a:custGeom>
            <a:noFill/>
            <a:ln w="57150">
              <a:solidFill>
                <a:srgbClr val="0D9488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734300" y="3067050"/>
              <a:ext cx="2266950" cy="1409700"/>
            </a:xfrm>
            <a:custGeom>
              <a:avLst/>
              <a:gdLst/>
              <a:ahLst/>
              <a:cxnLst/>
              <a:rect l="l" t="t" r="r" b="b"/>
              <a:pathLst>
                <a:path w="2266950" h="1409700">
                  <a:moveTo>
                    <a:pt x="0" y="228600"/>
                  </a:moveTo>
                  <a:cubicBezTo>
                    <a:pt x="1162050" y="0"/>
                    <a:pt x="2171700" y="571500"/>
                    <a:pt x="2266950" y="1409700"/>
                  </a:cubicBezTo>
                </a:path>
              </a:pathLst>
            </a:custGeom>
            <a:noFill/>
            <a:ln w="57150">
              <a:solidFill>
                <a:srgbClr val="EA580C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934200" y="1600200"/>
              <a:ext cx="3409950" cy="3676650"/>
            </a:xfrm>
            <a:custGeom>
              <a:avLst/>
              <a:gdLst/>
              <a:ahLst/>
              <a:cxnLst/>
              <a:rect l="l" t="t" r="r" b="b"/>
              <a:pathLst>
                <a:path w="3409950" h="3676650">
                  <a:moveTo>
                    <a:pt x="323850" y="914400"/>
                  </a:moveTo>
                  <a:cubicBezTo>
                    <a:pt x="1847850" y="0"/>
                    <a:pt x="3409950" y="914400"/>
                    <a:pt x="2933700" y="2076450"/>
                  </a:cubicBezTo>
                  <a:cubicBezTo>
                    <a:pt x="2571750" y="3086100"/>
                    <a:pt x="1219200" y="3676650"/>
                    <a:pt x="0" y="2743200"/>
                  </a:cubicBezTo>
                </a:path>
              </a:pathLst>
            </a:custGeom>
            <a:noFill/>
            <a:ln w="38100">
              <a:solidFill>
                <a:srgbClr val="7C3AED"/>
              </a:solidFill>
              <a:custDash>
                <a:ds d="300000" sp="325000"/>
              </a:custDash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051560" y="5581650"/>
            <a:ext cx="10107930" cy="514350"/>
            <a:chOff x="1051560" y="5581650"/>
            <a:chExt cx="10107930" cy="514350"/>
          </a:xfrm>
        </p:grpSpPr>
        <p:sp>
          <p:nvSpPr>
            <p:cNvPr id="29" name="Line 29"/>
            <p:cNvSpPr/>
            <p:nvPr/>
          </p:nvSpPr>
          <p:spPr>
            <a:xfrm>
              <a:off x="1066800" y="5581650"/>
              <a:ext cx="5124450" cy="9525"/>
            </a:xfrm>
            <a:custGeom>
              <a:avLst/>
              <a:gdLst/>
              <a:ahLst/>
              <a:cxnLst/>
              <a:rect l="l" t="t" r="r" b="b"/>
              <a:pathLst>
                <a:path w="5124450" h="9525">
                  <a:moveTo>
                    <a:pt x="0" y="0"/>
                  </a:moveTo>
                  <a:lnTo>
                    <a:pt x="5124450" y="0"/>
                  </a:lnTo>
                </a:path>
              </a:pathLst>
            </a:custGeom>
            <a:noFill/>
            <a:ln w="28575">
              <a:solidFill>
                <a:srgbClr val="D9E2E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51560" y="5852160"/>
              <a:ext cx="33028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结构：现象观察 → 视频演示 → 原理解释 → 结论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32948" y="5852160"/>
              <a:ext cx="5265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01 / 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400050"/>
            <a:ext cx="10972800" cy="1028700"/>
            <a:chOff x="609600" y="400050"/>
            <a:chExt cx="10972800" cy="1028700"/>
          </a:xfrm>
        </p:grpSpPr>
        <p:sp>
          <p:nvSpPr>
            <p:cNvPr id="3" name="Freeform 3"/>
            <p:cNvSpPr/>
            <p:nvPr/>
          </p:nvSpPr>
          <p:spPr>
            <a:xfrm>
              <a:off x="609600" y="400050"/>
              <a:ext cx="10972800" cy="1028700"/>
            </a:xfrm>
            <a:custGeom>
              <a:avLst/>
              <a:gdLst/>
              <a:ahLst/>
              <a:cxnLst/>
              <a:rect l="l" t="t" r="r" b="b"/>
              <a:pathLst>
                <a:path w="10972800" h="1028700">
                  <a:moveTo>
                    <a:pt x="228600" y="0"/>
                  </a:moveTo>
                  <a:lnTo>
                    <a:pt x="10744200" y="0"/>
                  </a:lnTo>
                  <a:cubicBezTo>
                    <a:pt x="10870452" y="0"/>
                    <a:pt x="10972800" y="102348"/>
                    <a:pt x="10972800" y="228600"/>
                  </a:cubicBezTo>
                  <a:lnTo>
                    <a:pt x="10972800" y="800100"/>
                  </a:lnTo>
                  <a:cubicBezTo>
                    <a:pt x="10972800" y="926352"/>
                    <a:pt x="10870452" y="1028700"/>
                    <a:pt x="10744200" y="1028700"/>
                  </a:cubicBezTo>
                  <a:lnTo>
                    <a:pt x="228600" y="1028700"/>
                  </a:lnTo>
                  <a:cubicBezTo>
                    <a:pt x="102348" y="1028700"/>
                    <a:pt x="0" y="926352"/>
                    <a:pt x="0" y="8001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99160" y="784860"/>
              <a:ext cx="17106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先看现象：运动很复杂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18210" y="1127760"/>
              <a:ext cx="46710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普通单摆轨迹比较规则，磁混沌摆会不断弯曲、折返和改变方向。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733550"/>
            <a:ext cx="5753100" cy="4114800"/>
            <a:chOff x="609600" y="1733550"/>
            <a:chExt cx="5753100" cy="4114800"/>
          </a:xfrm>
        </p:grpSpPr>
        <p:sp>
          <p:nvSpPr>
            <p:cNvPr id="7" name="Freeform 7"/>
            <p:cNvSpPr/>
            <p:nvPr/>
          </p:nvSpPr>
          <p:spPr>
            <a:xfrm>
              <a:off x="609600" y="1733550"/>
              <a:ext cx="5753100" cy="4114800"/>
            </a:xfrm>
            <a:custGeom>
              <a:avLst/>
              <a:gdLst/>
              <a:ahLst/>
              <a:cxnLst/>
              <a:rect l="l" t="t" r="r" b="b"/>
              <a:pathLst>
                <a:path w="5753100" h="4114800">
                  <a:moveTo>
                    <a:pt x="228600" y="0"/>
                  </a:moveTo>
                  <a:lnTo>
                    <a:pt x="5524500" y="0"/>
                  </a:lnTo>
                  <a:cubicBezTo>
                    <a:pt x="5650752" y="0"/>
                    <a:pt x="5753100" y="102348"/>
                    <a:pt x="5753100" y="228600"/>
                  </a:cubicBezTo>
                  <a:lnTo>
                    <a:pt x="5753100" y="3886200"/>
                  </a:lnTo>
                  <a:cubicBezTo>
                    <a:pt x="5753100" y="4012452"/>
                    <a:pt x="5650752" y="4114800"/>
                    <a:pt x="5524500" y="4114800"/>
                  </a:cubicBezTo>
                  <a:lnTo>
                    <a:pt x="228600" y="4114800"/>
                  </a:lnTo>
                  <a:cubicBezTo>
                    <a:pt x="102348" y="4114800"/>
                    <a:pt x="0" y="4012452"/>
                    <a:pt x="0" y="38862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76754" y="1840230"/>
              <a:ext cx="5295900" cy="476250"/>
            </a:xfrm>
            <a:custGeom>
              <a:avLst/>
              <a:gdLst/>
              <a:ahLst/>
              <a:cxnLst/>
              <a:rect l="l" t="t" r="r" b="b"/>
              <a:pathLst>
                <a:path w="5295900" h="476250">
                  <a:moveTo>
                    <a:pt x="190500" y="0"/>
                  </a:moveTo>
                  <a:lnTo>
                    <a:pt x="5105400" y="0"/>
                  </a:lnTo>
                  <a:cubicBezTo>
                    <a:pt x="5210610" y="0"/>
                    <a:pt x="5295900" y="85290"/>
                    <a:pt x="5295900" y="190500"/>
                  </a:cubicBezTo>
                  <a:lnTo>
                    <a:pt x="5295900" y="285750"/>
                  </a:lnTo>
                  <a:cubicBezTo>
                    <a:pt x="5295900" y="390960"/>
                    <a:pt x="5210610" y="476250"/>
                    <a:pt x="5105400" y="476250"/>
                  </a:cubicBezTo>
                  <a:lnTo>
                    <a:pt x="190500" y="476250"/>
                  </a:lnTo>
                  <a:cubicBezTo>
                    <a:pt x="85290" y="476250"/>
                    <a:pt x="0" y="390960"/>
                    <a:pt x="0" y="28575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EEF6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408586" y="2000250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轨迹示意：不是固定圆弧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962150" y="2381250"/>
              <a:ext cx="3048000" cy="3048000"/>
            </a:xfrm>
            <a:prstGeom prst="ellipse">
              <a:avLst/>
            </a:prstGeom>
            <a:solidFill>
              <a:srgbClr val="EEF6FF"/>
            </a:solidFill>
            <a:ln w="28575">
              <a:solidFill>
                <a:srgbClr val="D9E2EC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3181350" y="2419350"/>
              <a:ext cx="609600" cy="6096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2563E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24704" y="268986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N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2000250" y="44577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D948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243604" y="472821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N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400550" y="44577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EA580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43904" y="472821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S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428750" y="2133600"/>
              <a:ext cx="3600450" cy="3124200"/>
            </a:xfrm>
            <a:custGeom>
              <a:avLst/>
              <a:gdLst/>
              <a:ahLst/>
              <a:cxnLst/>
              <a:rect l="l" t="t" r="r" b="b"/>
              <a:pathLst>
                <a:path w="3600450" h="3124200">
                  <a:moveTo>
                    <a:pt x="1428750" y="1276350"/>
                  </a:moveTo>
                  <a:cubicBezTo>
                    <a:pt x="723900" y="590550"/>
                    <a:pt x="1295400" y="0"/>
                    <a:pt x="2057400" y="590550"/>
                  </a:cubicBezTo>
                  <a:cubicBezTo>
                    <a:pt x="2971800" y="1257300"/>
                    <a:pt x="3600450" y="914400"/>
                    <a:pt x="3409950" y="1752600"/>
                  </a:cubicBezTo>
                  <a:cubicBezTo>
                    <a:pt x="3200400" y="2762250"/>
                    <a:pt x="1962150" y="3124200"/>
                    <a:pt x="876300" y="2628900"/>
                  </a:cubicBezTo>
                  <a:cubicBezTo>
                    <a:pt x="0" y="2209800"/>
                    <a:pt x="495300" y="1276350"/>
                    <a:pt x="1428750" y="1276350"/>
                  </a:cubicBezTo>
                </a:path>
              </a:pathLst>
            </a:custGeom>
            <a:noFill/>
            <a:ln w="57150">
              <a:solidFill>
                <a:srgbClr val="7C3AED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857500" y="3409950"/>
              <a:ext cx="1847850" cy="1352550"/>
            </a:xfrm>
            <a:custGeom>
              <a:avLst/>
              <a:gdLst/>
              <a:ahLst/>
              <a:cxnLst/>
              <a:rect l="l" t="t" r="r" b="b"/>
              <a:pathLst>
                <a:path w="1847850" h="1352550">
                  <a:moveTo>
                    <a:pt x="0" y="0"/>
                  </a:moveTo>
                  <a:cubicBezTo>
                    <a:pt x="819150" y="323850"/>
                    <a:pt x="1409700" y="762000"/>
                    <a:pt x="1847850" y="1352550"/>
                  </a:cubicBezTo>
                </a:path>
              </a:pathLst>
            </a:custGeom>
            <a:noFill/>
            <a:ln w="47625">
              <a:solidFill>
                <a:srgbClr val="EA580C"/>
              </a:solidFill>
              <a:custDash>
                <a:ds d="200000" sp="240000"/>
              </a:custDash>
            </a:ln>
          </p:spPr>
        </p:sp>
        <p:sp>
          <p:nvSpPr>
            <p:cNvPr id="19" name="Ellipse 19"/>
            <p:cNvSpPr/>
            <p:nvPr/>
          </p:nvSpPr>
          <p:spPr>
            <a:xfrm>
              <a:off x="2647950" y="3200400"/>
              <a:ext cx="419100" cy="419100"/>
            </a:xfrm>
            <a:prstGeom prst="ellipse">
              <a:avLst/>
            </a:prstGeom>
            <a:solidFill>
              <a:srgbClr val="FACC15"/>
            </a:solidFill>
            <a:ln w="38100">
              <a:solidFill>
                <a:srgbClr val="EA580C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819900" y="1733550"/>
            <a:ext cx="4762500" cy="3810000"/>
            <a:chOff x="6819900" y="1733550"/>
            <a:chExt cx="4762500" cy="3810000"/>
          </a:xfrm>
        </p:grpSpPr>
        <p:sp>
          <p:nvSpPr>
            <p:cNvPr id="21" name="Freeform 21"/>
            <p:cNvSpPr/>
            <p:nvPr/>
          </p:nvSpPr>
          <p:spPr>
            <a:xfrm>
              <a:off x="6819900" y="1733550"/>
              <a:ext cx="4762500" cy="1066800"/>
            </a:xfrm>
            <a:custGeom>
              <a:avLst/>
              <a:gdLst/>
              <a:ahLst/>
              <a:cxnLst/>
              <a:rect l="l" t="t" r="r" b="b"/>
              <a:pathLst>
                <a:path w="4762500" h="1066800">
                  <a:moveTo>
                    <a:pt x="209550" y="0"/>
                  </a:moveTo>
                  <a:lnTo>
                    <a:pt x="4552950" y="0"/>
                  </a:lnTo>
                  <a:cubicBezTo>
                    <a:pt x="4668681" y="0"/>
                    <a:pt x="4762500" y="93819"/>
                    <a:pt x="4762500" y="209550"/>
                  </a:cubicBezTo>
                  <a:lnTo>
                    <a:pt x="4762500" y="857250"/>
                  </a:lnTo>
                  <a:cubicBezTo>
                    <a:pt x="4762500" y="972981"/>
                    <a:pt x="4668681" y="1066800"/>
                    <a:pt x="4552950" y="1066800"/>
                  </a:cubicBezTo>
                  <a:lnTo>
                    <a:pt x="209550" y="1066800"/>
                  </a:lnTo>
                  <a:cubicBezTo>
                    <a:pt x="93819" y="1066800"/>
                    <a:pt x="0" y="972981"/>
                    <a:pt x="0" y="8572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7048500" y="2000250"/>
              <a:ext cx="133350" cy="552450"/>
            </a:xfrm>
            <a:custGeom>
              <a:avLst/>
              <a:gdLst/>
              <a:ahLst/>
              <a:cxnLst/>
              <a:rect l="l" t="t" r="r" b="b"/>
              <a:pathLst>
                <a:path w="133350" h="552450">
                  <a:moveTo>
                    <a:pt x="66675" y="0"/>
                  </a:moveTo>
                  <a:lnTo>
                    <a:pt x="66675" y="0"/>
                  </a:lnTo>
                  <a:cubicBezTo>
                    <a:pt x="103499" y="0"/>
                    <a:pt x="133350" y="29851"/>
                    <a:pt x="133350" y="66675"/>
                  </a:cubicBezTo>
                  <a:lnTo>
                    <a:pt x="133350" y="485775"/>
                  </a:lnTo>
                  <a:cubicBezTo>
                    <a:pt x="133350" y="522599"/>
                    <a:pt x="103499" y="552450"/>
                    <a:pt x="66675" y="552450"/>
                  </a:cubicBezTo>
                  <a:lnTo>
                    <a:pt x="66675" y="552450"/>
                  </a:lnTo>
                  <a:cubicBezTo>
                    <a:pt x="29851" y="552450"/>
                    <a:pt x="0" y="522599"/>
                    <a:pt x="0" y="485775"/>
                  </a:cubicBez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33310" y="2023110"/>
              <a:ext cx="12318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1. 方向不断改变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33310" y="24041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靠近一个磁铁后又绕开。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819900" y="3105150"/>
              <a:ext cx="4762500" cy="1066800"/>
            </a:xfrm>
            <a:custGeom>
              <a:avLst/>
              <a:gdLst/>
              <a:ahLst/>
              <a:cxnLst/>
              <a:rect l="l" t="t" r="r" b="b"/>
              <a:pathLst>
                <a:path w="4762500" h="1066800">
                  <a:moveTo>
                    <a:pt x="209550" y="0"/>
                  </a:moveTo>
                  <a:lnTo>
                    <a:pt x="4552950" y="0"/>
                  </a:lnTo>
                  <a:cubicBezTo>
                    <a:pt x="4668681" y="0"/>
                    <a:pt x="4762500" y="93819"/>
                    <a:pt x="4762500" y="209550"/>
                  </a:cubicBezTo>
                  <a:lnTo>
                    <a:pt x="4762500" y="857250"/>
                  </a:lnTo>
                  <a:cubicBezTo>
                    <a:pt x="4762500" y="972981"/>
                    <a:pt x="4668681" y="1066800"/>
                    <a:pt x="4552950" y="1066800"/>
                  </a:cubicBezTo>
                  <a:lnTo>
                    <a:pt x="209550" y="1066800"/>
                  </a:lnTo>
                  <a:cubicBezTo>
                    <a:pt x="93819" y="1066800"/>
                    <a:pt x="0" y="972981"/>
                    <a:pt x="0" y="8572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048500" y="3371850"/>
              <a:ext cx="133350" cy="552450"/>
            </a:xfrm>
            <a:custGeom>
              <a:avLst/>
              <a:gdLst/>
              <a:ahLst/>
              <a:cxnLst/>
              <a:rect l="l" t="t" r="r" b="b"/>
              <a:pathLst>
                <a:path w="133350" h="552450">
                  <a:moveTo>
                    <a:pt x="66675" y="0"/>
                  </a:moveTo>
                  <a:lnTo>
                    <a:pt x="66675" y="0"/>
                  </a:lnTo>
                  <a:cubicBezTo>
                    <a:pt x="103499" y="0"/>
                    <a:pt x="133350" y="29851"/>
                    <a:pt x="133350" y="66675"/>
                  </a:cubicBezTo>
                  <a:lnTo>
                    <a:pt x="133350" y="485775"/>
                  </a:lnTo>
                  <a:cubicBezTo>
                    <a:pt x="133350" y="522599"/>
                    <a:pt x="103499" y="552450"/>
                    <a:pt x="66675" y="552450"/>
                  </a:cubicBezTo>
                  <a:lnTo>
                    <a:pt x="66675" y="552450"/>
                  </a:lnTo>
                  <a:cubicBezTo>
                    <a:pt x="29851" y="552450"/>
                    <a:pt x="0" y="522599"/>
                    <a:pt x="0" y="485775"/>
                  </a:cubicBez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0D948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33310" y="3394710"/>
              <a:ext cx="12738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2. 运动逐渐变慢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33310" y="37757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阻力和摩擦消耗能量。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819900" y="4476750"/>
              <a:ext cx="4762500" cy="1066800"/>
            </a:xfrm>
            <a:custGeom>
              <a:avLst/>
              <a:gdLst/>
              <a:ahLst/>
              <a:cxnLst/>
              <a:rect l="l" t="t" r="r" b="b"/>
              <a:pathLst>
                <a:path w="4762500" h="1066800">
                  <a:moveTo>
                    <a:pt x="209550" y="0"/>
                  </a:moveTo>
                  <a:lnTo>
                    <a:pt x="4552950" y="0"/>
                  </a:lnTo>
                  <a:cubicBezTo>
                    <a:pt x="4668681" y="0"/>
                    <a:pt x="4762500" y="93819"/>
                    <a:pt x="4762500" y="209550"/>
                  </a:cubicBezTo>
                  <a:lnTo>
                    <a:pt x="4762500" y="857250"/>
                  </a:lnTo>
                  <a:cubicBezTo>
                    <a:pt x="4762500" y="972981"/>
                    <a:pt x="4668681" y="1066800"/>
                    <a:pt x="4552950" y="1066800"/>
                  </a:cubicBezTo>
                  <a:lnTo>
                    <a:pt x="209550" y="1066800"/>
                  </a:lnTo>
                  <a:cubicBezTo>
                    <a:pt x="93819" y="1066800"/>
                    <a:pt x="0" y="972981"/>
                    <a:pt x="0" y="8572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048500" y="4743450"/>
              <a:ext cx="133350" cy="552450"/>
            </a:xfrm>
            <a:custGeom>
              <a:avLst/>
              <a:gdLst/>
              <a:ahLst/>
              <a:cxnLst/>
              <a:rect l="l" t="t" r="r" b="b"/>
              <a:pathLst>
                <a:path w="133350" h="552450">
                  <a:moveTo>
                    <a:pt x="66675" y="0"/>
                  </a:moveTo>
                  <a:lnTo>
                    <a:pt x="66675" y="0"/>
                  </a:lnTo>
                  <a:cubicBezTo>
                    <a:pt x="103499" y="0"/>
                    <a:pt x="133350" y="29851"/>
                    <a:pt x="133350" y="66675"/>
                  </a:cubicBezTo>
                  <a:lnTo>
                    <a:pt x="133350" y="485775"/>
                  </a:lnTo>
                  <a:cubicBezTo>
                    <a:pt x="133350" y="522599"/>
                    <a:pt x="103499" y="552450"/>
                    <a:pt x="66675" y="552450"/>
                  </a:cubicBezTo>
                  <a:lnTo>
                    <a:pt x="66675" y="552450"/>
                  </a:lnTo>
                  <a:cubicBezTo>
                    <a:pt x="29851" y="552450"/>
                    <a:pt x="0" y="522599"/>
                    <a:pt x="0" y="485775"/>
                  </a:cubicBez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33310" y="4766310"/>
              <a:ext cx="16098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3. 最后停在磁铁上方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33310" y="51473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结局和释放条件有关。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81125" y="6134100"/>
            <a:ext cx="10216515" cy="342900"/>
            <a:chOff x="1381125" y="6134100"/>
            <a:chExt cx="10216515" cy="342900"/>
          </a:xfrm>
        </p:grpSpPr>
        <p:sp>
          <p:nvSpPr>
            <p:cNvPr id="34" name="Freeform 34"/>
            <p:cNvSpPr/>
            <p:nvPr/>
          </p:nvSpPr>
          <p:spPr>
            <a:xfrm>
              <a:off x="1381125" y="6134100"/>
              <a:ext cx="4819650" cy="342900"/>
            </a:xfrm>
            <a:custGeom>
              <a:avLst/>
              <a:gdLst/>
              <a:ahLst/>
              <a:cxnLst/>
              <a:rect l="l" t="t" r="r" b="b"/>
              <a:pathLst>
                <a:path w="4819650" h="342900">
                  <a:moveTo>
                    <a:pt x="171450" y="0"/>
                  </a:moveTo>
                  <a:lnTo>
                    <a:pt x="4648200" y="0"/>
                  </a:lnTo>
                  <a:cubicBezTo>
                    <a:pt x="4742889" y="0"/>
                    <a:pt x="4819650" y="76761"/>
                    <a:pt x="4819650" y="171450"/>
                  </a:cubicBezTo>
                  <a:lnTo>
                    <a:pt x="4819650" y="171450"/>
                  </a:lnTo>
                  <a:cubicBezTo>
                    <a:pt x="4819650" y="266139"/>
                    <a:pt x="4742889" y="342900"/>
                    <a:pt x="46482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274570" y="6226016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下一步：观看释放后的初始运动。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31093" y="6195060"/>
              <a:ext cx="5665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02 / 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609600" y="533400"/>
            <a:ext cx="3429000" cy="5791200"/>
            <a:chOff x="609600" y="533400"/>
            <a:chExt cx="3429000" cy="5791200"/>
          </a:xfrm>
        </p:grpSpPr>
        <p:sp>
          <p:nvSpPr>
            <p:cNvPr id="3" name="Freeform 3"/>
            <p:cNvSpPr/>
            <p:nvPr/>
          </p:nvSpPr>
          <p:spPr>
            <a:xfrm>
              <a:off x="609600" y="533400"/>
              <a:ext cx="3429000" cy="5791200"/>
            </a:xfrm>
            <a:custGeom>
              <a:avLst/>
              <a:gdLst/>
              <a:ahLst/>
              <a:cxnLst/>
              <a:rect l="l" t="t" r="r" b="b"/>
              <a:pathLst>
                <a:path w="3429000" h="5791200">
                  <a:moveTo>
                    <a:pt x="266700" y="0"/>
                  </a:moveTo>
                  <a:lnTo>
                    <a:pt x="3162300" y="0"/>
                  </a:lnTo>
                  <a:cubicBezTo>
                    <a:pt x="3309594" y="0"/>
                    <a:pt x="3429000" y="119406"/>
                    <a:pt x="3429000" y="266700"/>
                  </a:cubicBezTo>
                  <a:lnTo>
                    <a:pt x="3429000" y="5524500"/>
                  </a:lnTo>
                  <a:cubicBezTo>
                    <a:pt x="3429000" y="5671794"/>
                    <a:pt x="3309594" y="5791200"/>
                    <a:pt x="3162300" y="5791200"/>
                  </a:cubicBezTo>
                  <a:lnTo>
                    <a:pt x="266700" y="5791200"/>
                  </a:lnTo>
                  <a:cubicBezTo>
                    <a:pt x="119406" y="5791200"/>
                    <a:pt x="0" y="5671794"/>
                    <a:pt x="0" y="5524500"/>
                  </a:cubicBezTo>
                  <a:lnTo>
                    <a:pt x="0" y="266700"/>
                  </a:ln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99160" y="9753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演示片段一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99160" y="137541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释放与初始摆动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914400" y="17907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28575">
              <a:solidFill>
                <a:srgbClr val="D9E2EC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933450" y="2228850"/>
              <a:ext cx="266700" cy="2667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18260" y="23088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观察起点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18260" y="26136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小球从偏离中心处释放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933450" y="3219450"/>
              <a:ext cx="266700" cy="266700"/>
            </a:xfrm>
            <a:prstGeom prst="ellipse">
              <a:avLst/>
            </a:prstGeom>
            <a:solidFill>
              <a:srgbClr val="0D948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18260" y="32994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观察转向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18260" y="36042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靠近磁铁后轨迹改变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933450" y="4210050"/>
              <a:ext cx="266700" cy="266700"/>
            </a:xfrm>
            <a:prstGeom prst="ellipse">
              <a:avLst/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18260" y="42900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观察特点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18260" y="45948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运动不再是简单圆弧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914400" y="5334000"/>
              <a:ext cx="2514600" cy="552450"/>
            </a:xfrm>
            <a:custGeom>
              <a:avLst/>
              <a:gdLst/>
              <a:ahLst/>
              <a:cxnLst/>
              <a:rect l="l" t="t" r="r" b="b"/>
              <a:pathLst>
                <a:path w="2514600" h="552450">
                  <a:moveTo>
                    <a:pt x="276225" y="0"/>
                  </a:moveTo>
                  <a:lnTo>
                    <a:pt x="2238375" y="0"/>
                  </a:lnTo>
                  <a:cubicBezTo>
                    <a:pt x="2390930" y="0"/>
                    <a:pt x="2514600" y="123670"/>
                    <a:pt x="2514600" y="276225"/>
                  </a:cubicBezTo>
                  <a:lnTo>
                    <a:pt x="2514600" y="276225"/>
                  </a:lnTo>
                  <a:cubicBezTo>
                    <a:pt x="2514600" y="428780"/>
                    <a:pt x="2390930" y="552450"/>
                    <a:pt x="2238375" y="552450"/>
                  </a:cubicBezTo>
                  <a:lnTo>
                    <a:pt x="276225" y="552450"/>
                  </a:lnTo>
                  <a:cubicBezTo>
                    <a:pt x="123670" y="552450"/>
                    <a:pt x="0" y="428780"/>
                    <a:pt x="0" y="276225"/>
                  </a:cubicBezTo>
                  <a:lnTo>
                    <a:pt x="0" y="276225"/>
                  </a:lnTo>
                  <a:cubicBezTo>
                    <a:pt x="0" y="123670"/>
                    <a:pt x="123670" y="0"/>
                    <a:pt x="276225" y="0"/>
                  </a:cubicBezTo>
                  <a:close/>
                </a:path>
              </a:pathLst>
            </a:cu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652397" y="555688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从规则到复杂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457700" y="685800"/>
            <a:ext cx="7124700" cy="5143500"/>
            <a:chOff x="4457700" y="685800"/>
            <a:chExt cx="7124700" cy="5143500"/>
          </a:xfrm>
        </p:grpSpPr>
        <p:sp>
          <p:nvSpPr>
            <p:cNvPr id="19" name="Freeform 19"/>
            <p:cNvSpPr/>
            <p:nvPr/>
          </p:nvSpPr>
          <p:spPr>
            <a:xfrm>
              <a:off x="4457700" y="685800"/>
              <a:ext cx="7124700" cy="5143500"/>
            </a:xfrm>
            <a:custGeom>
              <a:avLst/>
              <a:gdLst/>
              <a:ahLst/>
              <a:cxnLst/>
              <a:rect l="l" t="t" r="r" b="b"/>
              <a:pathLst>
                <a:path w="7124700" h="5143500">
                  <a:moveTo>
                    <a:pt x="266700" y="0"/>
                  </a:moveTo>
                  <a:lnTo>
                    <a:pt x="6858000" y="0"/>
                  </a:lnTo>
                  <a:cubicBezTo>
                    <a:pt x="7005294" y="0"/>
                    <a:pt x="7124700" y="119406"/>
                    <a:pt x="7124700" y="266700"/>
                  </a:cubicBezTo>
                  <a:lnTo>
                    <a:pt x="7124700" y="4876800"/>
                  </a:lnTo>
                  <a:cubicBezTo>
                    <a:pt x="7124700" y="5024094"/>
                    <a:pt x="7005294" y="5143500"/>
                    <a:pt x="6858000" y="5143500"/>
                  </a:cubicBezTo>
                  <a:lnTo>
                    <a:pt x="266700" y="5143500"/>
                  </a:lnTo>
                  <a:cubicBezTo>
                    <a:pt x="119406" y="5143500"/>
                    <a:pt x="0" y="5024094"/>
                    <a:pt x="0" y="4876800"/>
                  </a:cubicBezTo>
                  <a:lnTo>
                    <a:pt x="0" y="266700"/>
                  </a:ln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FFFFF"/>
            </a:solidFill>
            <a:ln w="47625">
              <a:solidFill>
                <a:srgbClr val="EA580C"/>
              </a:solidFill>
              <a:custDash>
                <a:ds d="400000" sp="280000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4781550" y="1047750"/>
              <a:ext cx="6477000" cy="3648075"/>
            </a:xfrm>
            <a:custGeom>
              <a:avLst/>
              <a:gdLst/>
              <a:ahLst/>
              <a:cxnLst/>
              <a:rect l="l" t="t" r="r" b="b"/>
              <a:pathLst>
                <a:path w="6477000" h="3648075">
                  <a:moveTo>
                    <a:pt x="171450" y="0"/>
                  </a:moveTo>
                  <a:lnTo>
                    <a:pt x="6305550" y="0"/>
                  </a:lnTo>
                  <a:cubicBezTo>
                    <a:pt x="6400239" y="0"/>
                    <a:pt x="6477000" y="76761"/>
                    <a:pt x="6477000" y="171450"/>
                  </a:cubicBezTo>
                  <a:lnTo>
                    <a:pt x="6477000" y="3476625"/>
                  </a:lnTo>
                  <a:cubicBezTo>
                    <a:pt x="6477000" y="3571314"/>
                    <a:pt x="6400239" y="3648075"/>
                    <a:pt x="6305550" y="3648075"/>
                  </a:cubicBezTo>
                  <a:lnTo>
                    <a:pt x="171450" y="3648075"/>
                  </a:lnTo>
                  <a:cubicBezTo>
                    <a:pt x="76761" y="3648075"/>
                    <a:pt x="0" y="3571314"/>
                    <a:pt x="0" y="3476625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EF6FF"/>
            </a:solidFill>
            <a:ln w="28575">
              <a:solidFill>
                <a:srgbClr val="CBD5E1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7734300" y="2457450"/>
              <a:ext cx="762000" cy="828675"/>
            </a:xfrm>
            <a:custGeom>
              <a:avLst/>
              <a:gdLst/>
              <a:ahLst/>
              <a:cxnLst/>
              <a:rect l="l" t="t" r="r" b="b"/>
              <a:pathLst>
                <a:path w="762000" h="828675">
                  <a:moveTo>
                    <a:pt x="0" y="0"/>
                  </a:moveTo>
                  <a:lnTo>
                    <a:pt x="0" y="828675"/>
                  </a:lnTo>
                  <a:lnTo>
                    <a:pt x="762000" y="419100"/>
                  </a:ln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16736" y="381381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实验演示片段一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64680" y="427101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释放小球，观察初始复杂运动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5391150" y="5010150"/>
              <a:ext cx="5257800" cy="400050"/>
            </a:xfrm>
            <a:custGeom>
              <a:avLst/>
              <a:gdLst/>
              <a:ahLst/>
              <a:cxnLst/>
              <a:rect l="l" t="t" r="r" b="b"/>
              <a:pathLst>
                <a:path w="5257800" h="400050">
                  <a:moveTo>
                    <a:pt x="200025" y="0"/>
                  </a:moveTo>
                  <a:lnTo>
                    <a:pt x="5057775" y="0"/>
                  </a:lnTo>
                  <a:cubicBezTo>
                    <a:pt x="5168246" y="0"/>
                    <a:pt x="5257800" y="89554"/>
                    <a:pt x="5257800" y="200025"/>
                  </a:cubicBezTo>
                  <a:lnTo>
                    <a:pt x="5257800" y="200025"/>
                  </a:lnTo>
                  <a:cubicBezTo>
                    <a:pt x="5257800" y="310496"/>
                    <a:pt x="5168246" y="400050"/>
                    <a:pt x="5057775" y="400050"/>
                  </a:cubicBezTo>
                  <a:lnTo>
                    <a:pt x="200025" y="400050"/>
                  </a:lnTo>
                  <a:cubicBezTo>
                    <a:pt x="89554" y="400050"/>
                    <a:pt x="0" y="310496"/>
                    <a:pt x="0" y="200025"/>
                  </a:cubicBezTo>
                  <a:lnTo>
                    <a:pt x="0" y="200025"/>
                  </a:lnTo>
                  <a:cubicBezTo>
                    <a:pt x="0" y="89554"/>
                    <a:pt x="89554" y="0"/>
                    <a:pt x="200025" y="0"/>
                  </a:cubicBezTo>
                  <a:close/>
                </a:path>
              </a:pathLst>
            </a:cu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72706" y="5147310"/>
              <a:ext cx="16946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视频时长约 20 到 25 秒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031093" y="6195060"/>
            <a:ext cx="5665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 / 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651510"/>
            <a:ext cx="4370070" cy="662940"/>
            <a:chOff x="594360" y="651510"/>
            <a:chExt cx="4370070" cy="662940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27440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实验装置：三个磁铁 + 一个磁性摆锤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3410" y="1070610"/>
              <a:ext cx="43510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装置很简单，但多个磁力叠加后，小球运动会变得很难预测。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1600200"/>
            <a:ext cx="6496050" cy="4343400"/>
            <a:chOff x="609600" y="1600200"/>
            <a:chExt cx="6496050" cy="4343400"/>
          </a:xfrm>
        </p:grpSpPr>
        <p:sp>
          <p:nvSpPr>
            <p:cNvPr id="6" name="Freeform 6"/>
            <p:cNvSpPr/>
            <p:nvPr/>
          </p:nvSpPr>
          <p:spPr>
            <a:xfrm>
              <a:off x="609600" y="1600200"/>
              <a:ext cx="6496050" cy="4343400"/>
            </a:xfrm>
            <a:custGeom>
              <a:avLst/>
              <a:gdLst/>
              <a:ahLst/>
              <a:cxnLst/>
              <a:rect l="l" t="t" r="r" b="b"/>
              <a:pathLst>
                <a:path w="6496050" h="4343400">
                  <a:moveTo>
                    <a:pt x="247650" y="0"/>
                  </a:moveTo>
                  <a:lnTo>
                    <a:pt x="6248400" y="0"/>
                  </a:lnTo>
                  <a:cubicBezTo>
                    <a:pt x="6385173" y="0"/>
                    <a:pt x="6496050" y="110877"/>
                    <a:pt x="6496050" y="247650"/>
                  </a:cubicBezTo>
                  <a:lnTo>
                    <a:pt x="6496050" y="4095750"/>
                  </a:lnTo>
                  <a:cubicBezTo>
                    <a:pt x="6496050" y="4232523"/>
                    <a:pt x="6385173" y="4343400"/>
                    <a:pt x="6248400" y="4343400"/>
                  </a:cubicBezTo>
                  <a:lnTo>
                    <a:pt x="247650" y="4343400"/>
                  </a:lnTo>
                  <a:cubicBezTo>
                    <a:pt x="110877" y="4343400"/>
                    <a:pt x="0" y="4232523"/>
                    <a:pt x="0" y="4095750"/>
                  </a:cubicBezTo>
                  <a:lnTo>
                    <a:pt x="0" y="247650"/>
                  </a:lnTo>
                  <a:cubicBezTo>
                    <a:pt x="0" y="110877"/>
                    <a:pt x="110877" y="0"/>
                    <a:pt x="2476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876300" y="1847850"/>
              <a:ext cx="5962650" cy="609600"/>
            </a:xfrm>
            <a:custGeom>
              <a:avLst/>
              <a:gdLst/>
              <a:ahLst/>
              <a:cxnLst/>
              <a:rect l="l" t="t" r="r" b="b"/>
              <a:pathLst>
                <a:path w="5962650" h="609600">
                  <a:moveTo>
                    <a:pt x="209550" y="0"/>
                  </a:moveTo>
                  <a:lnTo>
                    <a:pt x="5753100" y="0"/>
                  </a:lnTo>
                  <a:cubicBezTo>
                    <a:pt x="5868831" y="0"/>
                    <a:pt x="5962650" y="93819"/>
                    <a:pt x="5962650" y="209550"/>
                  </a:cubicBezTo>
                  <a:lnTo>
                    <a:pt x="5962650" y="400050"/>
                  </a:lnTo>
                  <a:cubicBezTo>
                    <a:pt x="5962650" y="515781"/>
                    <a:pt x="5868831" y="609600"/>
                    <a:pt x="5753100" y="609600"/>
                  </a:cubicBezTo>
                  <a:lnTo>
                    <a:pt x="209550" y="609600"/>
                  </a:lnTo>
                  <a:cubicBezTo>
                    <a:pt x="93819" y="609600"/>
                    <a:pt x="0" y="515781"/>
                    <a:pt x="0" y="4000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EEF6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22332" y="2108835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装置示意图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714500" y="5391150"/>
              <a:ext cx="4305300" cy="9525"/>
            </a:xfrm>
            <a:custGeom>
              <a:avLst/>
              <a:gdLst/>
              <a:ahLst/>
              <a:cxnLst/>
              <a:rect l="l" t="t" r="r" b="b"/>
              <a:pathLst>
                <a:path w="4305300" h="9525">
                  <a:moveTo>
                    <a:pt x="0" y="0"/>
                  </a:moveTo>
                  <a:lnTo>
                    <a:pt x="4305300" y="0"/>
                  </a:lnTo>
                </a:path>
              </a:pathLst>
            </a:custGeom>
            <a:noFill/>
            <a:ln w="57150">
              <a:solidFill>
                <a:srgbClr val="52607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152650" y="2686050"/>
              <a:ext cx="9525" cy="2705100"/>
            </a:xfrm>
            <a:custGeom>
              <a:avLst/>
              <a:gdLst/>
              <a:ahLst/>
              <a:cxnLst/>
              <a:rect l="l" t="t" r="r" b="b"/>
              <a:pathLst>
                <a:path w="9525" h="2705100">
                  <a:moveTo>
                    <a:pt x="0" y="2705100"/>
                  </a:moveTo>
                  <a:lnTo>
                    <a:pt x="0" y="0"/>
                  </a:lnTo>
                </a:path>
              </a:pathLst>
            </a:custGeom>
            <a:noFill/>
            <a:ln w="57150">
              <a:solidFill>
                <a:srgbClr val="526070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152650" y="26860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57150">
              <a:solidFill>
                <a:srgbClr val="526070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905250" y="2686050"/>
              <a:ext cx="514350" cy="1104900"/>
            </a:xfrm>
            <a:custGeom>
              <a:avLst/>
              <a:gdLst/>
              <a:ahLst/>
              <a:cxnLst/>
              <a:rect l="l" t="t" r="r" b="b"/>
              <a:pathLst>
                <a:path w="514350" h="1104900">
                  <a:moveTo>
                    <a:pt x="0" y="0"/>
                  </a:moveTo>
                  <a:lnTo>
                    <a:pt x="514350" y="1104900"/>
                  </a:lnTo>
                </a:path>
              </a:pathLst>
            </a:custGeom>
            <a:noFill/>
            <a:ln w="38100">
              <a:solidFill>
                <a:srgbClr val="526070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4171950" y="3543300"/>
              <a:ext cx="495300" cy="495300"/>
            </a:xfrm>
            <a:prstGeom prst="ellipse">
              <a:avLst/>
            </a:prstGeom>
            <a:solidFill>
              <a:srgbClr val="FACC15"/>
            </a:solidFill>
            <a:ln w="38100">
              <a:solidFill>
                <a:srgbClr val="EA580C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781300" y="4648200"/>
              <a:ext cx="3390900" cy="876300"/>
            </a:xfrm>
            <a:prstGeom prst="ellipse">
              <a:avLst/>
            </a:prstGeom>
            <a:solidFill>
              <a:srgbClr val="EEF6FF"/>
            </a:solidFill>
            <a:ln w="28575">
              <a:solidFill>
                <a:srgbClr val="CBD5E1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152900" y="4229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15304" y="452818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N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2876550" y="49720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D948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138954" y="527113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N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429250" y="49720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EA580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691654" y="527113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S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476750" y="3790950"/>
              <a:ext cx="190500" cy="762000"/>
            </a:xfrm>
            <a:custGeom>
              <a:avLst/>
              <a:gdLst/>
              <a:ahLst/>
              <a:cxnLst/>
              <a:rect l="l" t="t" r="r" b="b"/>
              <a:pathLst>
                <a:path w="190500" h="762000">
                  <a:moveTo>
                    <a:pt x="190500" y="0"/>
                  </a:moveTo>
                  <a:lnTo>
                    <a:pt x="0" y="762000"/>
                  </a:lnTo>
                </a:path>
              </a:pathLst>
            </a:custGeom>
            <a:noFill/>
            <a:ln w="28575">
              <a:solidFill>
                <a:srgbClr val="2563EB"/>
              </a:solidFill>
              <a:custDash>
                <a:ds d="266666" sp="300000"/>
              </a:custDash>
            </a:ln>
          </p:spPr>
        </p:sp>
        <p:sp>
          <p:nvSpPr>
            <p:cNvPr id="22" name="Line 22"/>
            <p:cNvSpPr/>
            <p:nvPr/>
          </p:nvSpPr>
          <p:spPr>
            <a:xfrm>
              <a:off x="3200400" y="4000500"/>
              <a:ext cx="1104900" cy="1295400"/>
            </a:xfrm>
            <a:custGeom>
              <a:avLst/>
              <a:gdLst/>
              <a:ahLst/>
              <a:cxnLst/>
              <a:rect l="l" t="t" r="r" b="b"/>
              <a:pathLst>
                <a:path w="1104900" h="1295400">
                  <a:moveTo>
                    <a:pt x="1104900" y="0"/>
                  </a:moveTo>
                  <a:lnTo>
                    <a:pt x="0" y="1295400"/>
                  </a:lnTo>
                </a:path>
              </a:pathLst>
            </a:custGeom>
            <a:noFill/>
            <a:ln w="28575">
              <a:solidFill>
                <a:srgbClr val="0D9488"/>
              </a:solidFill>
              <a:custDash>
                <a:ds d="266666" sp="300000"/>
              </a:custDash>
            </a:ln>
          </p:spPr>
        </p:sp>
        <p:sp>
          <p:nvSpPr>
            <p:cNvPr id="23" name="Line 23"/>
            <p:cNvSpPr/>
            <p:nvPr/>
          </p:nvSpPr>
          <p:spPr>
            <a:xfrm>
              <a:off x="4552950" y="3981450"/>
              <a:ext cx="1200150" cy="1314450"/>
            </a:xfrm>
            <a:custGeom>
              <a:avLst/>
              <a:gdLst/>
              <a:ahLst/>
              <a:cxnLst/>
              <a:rect l="l" t="t" r="r" b="b"/>
              <a:pathLst>
                <a:path w="1200150" h="1314450">
                  <a:moveTo>
                    <a:pt x="0" y="0"/>
                  </a:moveTo>
                  <a:lnTo>
                    <a:pt x="1200150" y="1314450"/>
                  </a:lnTo>
                </a:path>
              </a:pathLst>
            </a:custGeom>
            <a:noFill/>
            <a:ln w="28575">
              <a:solidFill>
                <a:srgbClr val="EA580C"/>
              </a:solidFill>
              <a:custDash>
                <a:ds d="266666" sp="300000"/>
              </a:custDash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448550" y="1695450"/>
            <a:ext cx="4133850" cy="3886200"/>
            <a:chOff x="7448550" y="1695450"/>
            <a:chExt cx="4133850" cy="3886200"/>
          </a:xfrm>
        </p:grpSpPr>
        <p:sp>
          <p:nvSpPr>
            <p:cNvPr id="25" name="Freeform 25"/>
            <p:cNvSpPr/>
            <p:nvPr/>
          </p:nvSpPr>
          <p:spPr>
            <a:xfrm>
              <a:off x="7448550" y="1695450"/>
              <a:ext cx="4133850" cy="1066800"/>
            </a:xfrm>
            <a:custGeom>
              <a:avLst/>
              <a:gdLst/>
              <a:ahLst/>
              <a:cxnLst/>
              <a:rect l="l" t="t" r="r" b="b"/>
              <a:pathLst>
                <a:path w="4133850" h="1066800">
                  <a:moveTo>
                    <a:pt x="209550" y="0"/>
                  </a:moveTo>
                  <a:lnTo>
                    <a:pt x="3924300" y="0"/>
                  </a:lnTo>
                  <a:cubicBezTo>
                    <a:pt x="4040031" y="0"/>
                    <a:pt x="4133850" y="93819"/>
                    <a:pt x="4133850" y="209550"/>
                  </a:cubicBezTo>
                  <a:lnTo>
                    <a:pt x="4133850" y="857250"/>
                  </a:lnTo>
                  <a:cubicBezTo>
                    <a:pt x="4133850" y="972981"/>
                    <a:pt x="4040031" y="1066800"/>
                    <a:pt x="3924300" y="1066800"/>
                  </a:cubicBezTo>
                  <a:lnTo>
                    <a:pt x="209550" y="1066800"/>
                  </a:lnTo>
                  <a:cubicBezTo>
                    <a:pt x="93819" y="1066800"/>
                    <a:pt x="0" y="972981"/>
                    <a:pt x="0" y="8572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738110" y="1965960"/>
              <a:ext cx="5597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1. 摆锤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38110" y="23660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带有磁性，会被下方磁铁影响。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7448550" y="3105150"/>
              <a:ext cx="4133850" cy="1066800"/>
            </a:xfrm>
            <a:custGeom>
              <a:avLst/>
              <a:gdLst/>
              <a:ahLst/>
              <a:cxnLst/>
              <a:rect l="l" t="t" r="r" b="b"/>
              <a:pathLst>
                <a:path w="4133850" h="1066800">
                  <a:moveTo>
                    <a:pt x="209550" y="0"/>
                  </a:moveTo>
                  <a:lnTo>
                    <a:pt x="3924300" y="0"/>
                  </a:lnTo>
                  <a:cubicBezTo>
                    <a:pt x="4040031" y="0"/>
                    <a:pt x="4133850" y="93819"/>
                    <a:pt x="4133850" y="209550"/>
                  </a:cubicBezTo>
                  <a:lnTo>
                    <a:pt x="4133850" y="857250"/>
                  </a:lnTo>
                  <a:cubicBezTo>
                    <a:pt x="4133850" y="972981"/>
                    <a:pt x="4040031" y="1066800"/>
                    <a:pt x="3924300" y="1066800"/>
                  </a:cubicBezTo>
                  <a:lnTo>
                    <a:pt x="209550" y="1066800"/>
                  </a:lnTo>
                  <a:cubicBezTo>
                    <a:pt x="93819" y="1066800"/>
                    <a:pt x="0" y="972981"/>
                    <a:pt x="0" y="8572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38110" y="3375660"/>
              <a:ext cx="9377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2. 三个磁铁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8110" y="37757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位置不同，提供不同方向磁力。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7448550" y="4514850"/>
              <a:ext cx="4133850" cy="1066800"/>
            </a:xfrm>
            <a:custGeom>
              <a:avLst/>
              <a:gdLst/>
              <a:ahLst/>
              <a:cxnLst/>
              <a:rect l="l" t="t" r="r" b="b"/>
              <a:pathLst>
                <a:path w="4133850" h="1066800">
                  <a:moveTo>
                    <a:pt x="209550" y="0"/>
                  </a:moveTo>
                  <a:lnTo>
                    <a:pt x="3924300" y="0"/>
                  </a:lnTo>
                  <a:cubicBezTo>
                    <a:pt x="4040031" y="0"/>
                    <a:pt x="4133850" y="93819"/>
                    <a:pt x="4133850" y="209550"/>
                  </a:cubicBezTo>
                  <a:lnTo>
                    <a:pt x="4133850" y="857250"/>
                  </a:lnTo>
                  <a:cubicBezTo>
                    <a:pt x="4133850" y="972981"/>
                    <a:pt x="4040031" y="1066800"/>
                    <a:pt x="3924300" y="1066800"/>
                  </a:cubicBezTo>
                  <a:lnTo>
                    <a:pt x="209550" y="1066800"/>
                  </a:lnTo>
                  <a:cubicBezTo>
                    <a:pt x="93819" y="1066800"/>
                    <a:pt x="0" y="972981"/>
                    <a:pt x="0" y="8572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38110" y="4785360"/>
              <a:ext cx="9377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3. 释放位置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38110" y="518541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从非平衡位置松手，差异被放大。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031093" y="6195060"/>
            <a:ext cx="5665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 / 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651510"/>
            <a:ext cx="4210050" cy="662940"/>
            <a:chOff x="594360" y="651510"/>
            <a:chExt cx="4210050" cy="662940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7106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受力原理：多种力叠加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3410" y="1070610"/>
              <a:ext cx="41910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小球不是乱动，而是在重力、磁力、阻力共同作用下运动。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81500" y="1943100"/>
            <a:ext cx="3429000" cy="3067050"/>
            <a:chOff x="4381500" y="1943100"/>
            <a:chExt cx="3429000" cy="3067050"/>
          </a:xfrm>
        </p:grpSpPr>
        <p:sp>
          <p:nvSpPr>
            <p:cNvPr id="6" name="Ellipse 6"/>
            <p:cNvSpPr/>
            <p:nvPr/>
          </p:nvSpPr>
          <p:spPr>
            <a:xfrm>
              <a:off x="5238750" y="2667000"/>
              <a:ext cx="1714500" cy="1714500"/>
            </a:xfrm>
            <a:prstGeom prst="ellipse">
              <a:avLst/>
            </a:prstGeom>
            <a:solidFill>
              <a:srgbClr val="EEF6FF"/>
            </a:solidFill>
            <a:ln w="28575">
              <a:solidFill>
                <a:srgbClr val="CBD5E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5791200" y="3219450"/>
              <a:ext cx="609600" cy="609600"/>
            </a:xfrm>
            <a:prstGeom prst="ellipse">
              <a:avLst/>
            </a:prstGeom>
            <a:solidFill>
              <a:srgbClr val="FACC15"/>
            </a:solidFill>
            <a:ln w="38100">
              <a:solidFill>
                <a:srgbClr val="EA580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44718" y="44615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磁性摆锤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0" y="194310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62865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52607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381500" y="352425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838200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2563EB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4381500" y="3390900"/>
              <a:ext cx="209550" cy="266700"/>
            </a:xfrm>
            <a:custGeom>
              <a:avLst/>
              <a:gdLst/>
              <a:ahLst/>
              <a:cxnLst/>
              <a:rect l="l" t="t" r="r" b="b"/>
              <a:pathLst>
                <a:path w="209550" h="266700">
                  <a:moveTo>
                    <a:pt x="0" y="133350"/>
                  </a:moveTo>
                  <a:lnTo>
                    <a:pt x="209550" y="0"/>
                  </a:lnTo>
                  <a:lnTo>
                    <a:pt x="209550" y="2667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6972300" y="352425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noFill/>
            <a:ln w="38100">
              <a:solidFill>
                <a:srgbClr val="EA580C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7600950" y="3390900"/>
              <a:ext cx="209550" cy="266700"/>
            </a:xfrm>
            <a:custGeom>
              <a:avLst/>
              <a:gdLst/>
              <a:ahLst/>
              <a:cxnLst/>
              <a:rect l="l" t="t" r="r" b="b"/>
              <a:pathLst>
                <a:path w="209550" h="266700">
                  <a:moveTo>
                    <a:pt x="209550" y="133350"/>
                  </a:move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5143500" y="4286250"/>
              <a:ext cx="514350" cy="723900"/>
            </a:xfrm>
            <a:custGeom>
              <a:avLst/>
              <a:gdLst/>
              <a:ahLst/>
              <a:cxnLst/>
              <a:rect l="l" t="t" r="r" b="b"/>
              <a:pathLst>
                <a:path w="514350" h="723900">
                  <a:moveTo>
                    <a:pt x="514350" y="0"/>
                  </a:moveTo>
                  <a:lnTo>
                    <a:pt x="0" y="723900"/>
                  </a:lnTo>
                </a:path>
              </a:pathLst>
            </a:custGeom>
            <a:noFill/>
            <a:ln w="38100">
              <a:solidFill>
                <a:srgbClr val="0D9488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5143500" y="47815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19050" y="0"/>
                  </a:lnTo>
                  <a:lnTo>
                    <a:pt x="228600" y="142875"/>
                  </a:lnTo>
                  <a:close/>
                </a:path>
              </a:pathLst>
            </a:custGeom>
            <a:solidFill>
              <a:srgbClr val="0D9488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6534150" y="4286250"/>
              <a:ext cx="514350" cy="723900"/>
            </a:xfrm>
            <a:custGeom>
              <a:avLst/>
              <a:gdLst/>
              <a:ahLst/>
              <a:cxnLst/>
              <a:rect l="l" t="t" r="r" b="b"/>
              <a:pathLst>
                <a:path w="514350" h="723900">
                  <a:moveTo>
                    <a:pt x="0" y="0"/>
                  </a:moveTo>
                  <a:lnTo>
                    <a:pt x="514350" y="723900"/>
                  </a:lnTo>
                </a:path>
              </a:pathLst>
            </a:custGeom>
            <a:noFill/>
            <a:ln w="38100">
              <a:solidFill>
                <a:srgbClr val="7C3AED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6819900" y="47815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228600"/>
                  </a:moveTo>
                  <a:lnTo>
                    <a:pt x="0" y="142875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609600" y="1695450"/>
            <a:ext cx="10972800" cy="4076700"/>
            <a:chOff x="609600" y="1695450"/>
            <a:chExt cx="10972800" cy="4076700"/>
          </a:xfrm>
        </p:grpSpPr>
        <p:sp>
          <p:nvSpPr>
            <p:cNvPr id="19" name="Freeform 19"/>
            <p:cNvSpPr/>
            <p:nvPr/>
          </p:nvSpPr>
          <p:spPr>
            <a:xfrm>
              <a:off x="609600" y="1695450"/>
              <a:ext cx="4095750" cy="1162050"/>
            </a:xfrm>
            <a:custGeom>
              <a:avLst/>
              <a:gdLst/>
              <a:ahLst/>
              <a:cxnLst/>
              <a:rect l="l" t="t" r="r" b="b"/>
              <a:pathLst>
                <a:path w="4095750" h="1162050">
                  <a:moveTo>
                    <a:pt x="209550" y="0"/>
                  </a:moveTo>
                  <a:lnTo>
                    <a:pt x="3886200" y="0"/>
                  </a:lnTo>
                  <a:cubicBezTo>
                    <a:pt x="4001931" y="0"/>
                    <a:pt x="4095750" y="93819"/>
                    <a:pt x="4095750" y="209550"/>
                  </a:cubicBezTo>
                  <a:lnTo>
                    <a:pt x="4095750" y="952500"/>
                  </a:lnTo>
                  <a:cubicBezTo>
                    <a:pt x="4095750" y="1068231"/>
                    <a:pt x="4001931" y="1162050"/>
                    <a:pt x="3886200" y="1162050"/>
                  </a:cubicBezTo>
                  <a:lnTo>
                    <a:pt x="209550" y="1162050"/>
                  </a:lnTo>
                  <a:cubicBezTo>
                    <a:pt x="93819" y="1162050"/>
                    <a:pt x="0" y="1068231"/>
                    <a:pt x="0" y="9525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9160" y="198501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重力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9160" y="238506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让摆锤倾向于回到最低位置。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486650" y="1695450"/>
              <a:ext cx="4095750" cy="1162050"/>
            </a:xfrm>
            <a:custGeom>
              <a:avLst/>
              <a:gdLst/>
              <a:ahLst/>
              <a:cxnLst/>
              <a:rect l="l" t="t" r="r" b="b"/>
              <a:pathLst>
                <a:path w="4095750" h="1162050">
                  <a:moveTo>
                    <a:pt x="209550" y="0"/>
                  </a:moveTo>
                  <a:lnTo>
                    <a:pt x="3886200" y="0"/>
                  </a:lnTo>
                  <a:cubicBezTo>
                    <a:pt x="4001931" y="0"/>
                    <a:pt x="4095750" y="93819"/>
                    <a:pt x="4095750" y="209550"/>
                  </a:cubicBezTo>
                  <a:lnTo>
                    <a:pt x="4095750" y="952500"/>
                  </a:lnTo>
                  <a:cubicBezTo>
                    <a:pt x="4095750" y="1068231"/>
                    <a:pt x="4001931" y="1162050"/>
                    <a:pt x="3886200" y="1162050"/>
                  </a:cubicBezTo>
                  <a:lnTo>
                    <a:pt x="209550" y="1162050"/>
                  </a:lnTo>
                  <a:cubicBezTo>
                    <a:pt x="93819" y="1162050"/>
                    <a:pt x="0" y="1068231"/>
                    <a:pt x="0" y="9525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76210" y="198501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磁力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76210" y="23850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三个磁铁从不同方向影响小球。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09600" y="4610100"/>
              <a:ext cx="4095750" cy="1162050"/>
            </a:xfrm>
            <a:custGeom>
              <a:avLst/>
              <a:gdLst/>
              <a:ahLst/>
              <a:cxnLst/>
              <a:rect l="l" t="t" r="r" b="b"/>
              <a:pathLst>
                <a:path w="4095750" h="1162050">
                  <a:moveTo>
                    <a:pt x="209550" y="0"/>
                  </a:moveTo>
                  <a:lnTo>
                    <a:pt x="3886200" y="0"/>
                  </a:lnTo>
                  <a:cubicBezTo>
                    <a:pt x="4001931" y="0"/>
                    <a:pt x="4095750" y="93819"/>
                    <a:pt x="4095750" y="209550"/>
                  </a:cubicBezTo>
                  <a:lnTo>
                    <a:pt x="4095750" y="952500"/>
                  </a:lnTo>
                  <a:cubicBezTo>
                    <a:pt x="4095750" y="1068231"/>
                    <a:pt x="4001931" y="1162050"/>
                    <a:pt x="3886200" y="1162050"/>
                  </a:cubicBezTo>
                  <a:lnTo>
                    <a:pt x="209550" y="1162050"/>
                  </a:lnTo>
                  <a:cubicBezTo>
                    <a:pt x="93819" y="1162050"/>
                    <a:pt x="0" y="1068231"/>
                    <a:pt x="0" y="9525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99160" y="48996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阻力和摩擦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9160" y="529971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消耗能量，让小球最终停下。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7486650" y="4610100"/>
              <a:ext cx="4095750" cy="1162050"/>
            </a:xfrm>
            <a:custGeom>
              <a:avLst/>
              <a:gdLst/>
              <a:ahLst/>
              <a:cxnLst/>
              <a:rect l="l" t="t" r="r" b="b"/>
              <a:pathLst>
                <a:path w="4095750" h="1162050">
                  <a:moveTo>
                    <a:pt x="209550" y="0"/>
                  </a:moveTo>
                  <a:lnTo>
                    <a:pt x="3886200" y="0"/>
                  </a:lnTo>
                  <a:cubicBezTo>
                    <a:pt x="4001931" y="0"/>
                    <a:pt x="4095750" y="93819"/>
                    <a:pt x="4095750" y="209550"/>
                  </a:cubicBezTo>
                  <a:lnTo>
                    <a:pt x="4095750" y="952500"/>
                  </a:lnTo>
                  <a:cubicBezTo>
                    <a:pt x="4095750" y="1068231"/>
                    <a:pt x="4001931" y="1162050"/>
                    <a:pt x="3886200" y="1162050"/>
                  </a:cubicBezTo>
                  <a:lnTo>
                    <a:pt x="209550" y="1162050"/>
                  </a:lnTo>
                  <a:cubicBezTo>
                    <a:pt x="93819" y="1162050"/>
                    <a:pt x="0" y="1068231"/>
                    <a:pt x="0" y="9525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76210" y="48996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C3AED"/>
                  </a:solidFill>
                  <a:latin typeface="Microsoft YaHei"/>
                  <a:ea typeface="Microsoft YaHei"/>
                  <a:cs typeface="Microsoft YaHei"/>
                </a:rPr>
                <a:t>非线性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76210" y="529971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位置差一点，受力方向可能差很多。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152650" y="5962650"/>
            <a:ext cx="7886700" cy="457200"/>
            <a:chOff x="2152650" y="5962650"/>
            <a:chExt cx="7886700" cy="457200"/>
          </a:xfrm>
        </p:grpSpPr>
        <p:sp>
          <p:nvSpPr>
            <p:cNvPr id="32" name="Freeform 32"/>
            <p:cNvSpPr/>
            <p:nvPr/>
          </p:nvSpPr>
          <p:spPr>
            <a:xfrm>
              <a:off x="2152650" y="5962650"/>
              <a:ext cx="7886700" cy="457200"/>
            </a:xfrm>
            <a:custGeom>
              <a:avLst/>
              <a:gdLst/>
              <a:ahLst/>
              <a:cxnLst/>
              <a:rect l="l" t="t" r="r" b="b"/>
              <a:pathLst>
                <a:path w="7886700" h="457200">
                  <a:moveTo>
                    <a:pt x="228600" y="0"/>
                  </a:moveTo>
                  <a:lnTo>
                    <a:pt x="7658100" y="0"/>
                  </a:lnTo>
                  <a:cubicBezTo>
                    <a:pt x="7784352" y="0"/>
                    <a:pt x="7886700" y="102348"/>
                    <a:pt x="7886700" y="228600"/>
                  </a:cubicBezTo>
                  <a:lnTo>
                    <a:pt x="7886700" y="228600"/>
                  </a:lnTo>
                  <a:cubicBezTo>
                    <a:pt x="7886700" y="354852"/>
                    <a:pt x="7784352" y="457200"/>
                    <a:pt x="7658100" y="457200"/>
                  </a:cubicBezTo>
                  <a:lnTo>
                    <a:pt x="228600" y="457200"/>
                  </a:lnTo>
                  <a:cubicBezTo>
                    <a:pt x="102348" y="457200"/>
                    <a:pt x="0" y="354852"/>
                    <a:pt x="0" y="2286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568571" y="6137910"/>
              <a:ext cx="30548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关键句：规律存在，但长期预测很困难。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651510"/>
            <a:ext cx="3906012" cy="662940"/>
            <a:chOff x="594360" y="651510"/>
            <a:chExt cx="3906012" cy="662940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3914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为什么叫“混沌”？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3410" y="1070610"/>
              <a:ext cx="38869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混沌不是完全随机，而是“确定系统中的难预测运动”。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1619250"/>
            <a:ext cx="6400800" cy="4095750"/>
            <a:chOff x="609600" y="1619250"/>
            <a:chExt cx="6400800" cy="4095750"/>
          </a:xfrm>
        </p:grpSpPr>
        <p:sp>
          <p:nvSpPr>
            <p:cNvPr id="6" name="Freeform 6"/>
            <p:cNvSpPr/>
            <p:nvPr/>
          </p:nvSpPr>
          <p:spPr>
            <a:xfrm>
              <a:off x="609600" y="1619250"/>
              <a:ext cx="6400800" cy="4095750"/>
            </a:xfrm>
            <a:custGeom>
              <a:avLst/>
              <a:gdLst/>
              <a:ahLst/>
              <a:cxnLst/>
              <a:rect l="l" t="t" r="r" b="b"/>
              <a:pathLst>
                <a:path w="6400800" h="4095750">
                  <a:moveTo>
                    <a:pt x="247650" y="0"/>
                  </a:moveTo>
                  <a:lnTo>
                    <a:pt x="6153150" y="0"/>
                  </a:lnTo>
                  <a:cubicBezTo>
                    <a:pt x="6289923" y="0"/>
                    <a:pt x="6400800" y="110877"/>
                    <a:pt x="6400800" y="247650"/>
                  </a:cubicBezTo>
                  <a:lnTo>
                    <a:pt x="6400800" y="3848100"/>
                  </a:lnTo>
                  <a:cubicBezTo>
                    <a:pt x="6400800" y="3984873"/>
                    <a:pt x="6289923" y="4095750"/>
                    <a:pt x="6153150" y="4095750"/>
                  </a:cubicBezTo>
                  <a:lnTo>
                    <a:pt x="247650" y="4095750"/>
                  </a:lnTo>
                  <a:cubicBezTo>
                    <a:pt x="110877" y="4095750"/>
                    <a:pt x="0" y="3984873"/>
                    <a:pt x="0" y="3848100"/>
                  </a:cubicBezTo>
                  <a:lnTo>
                    <a:pt x="0" y="247650"/>
                  </a:lnTo>
                  <a:cubicBezTo>
                    <a:pt x="0" y="110877"/>
                    <a:pt x="110877" y="0"/>
                    <a:pt x="247650" y="0"/>
                  </a:cubicBezTo>
                  <a:close/>
                </a:path>
              </a:pathLst>
            </a:custGeom>
            <a:solidFill>
              <a:srgbClr val="FFFFFF"/>
            </a:solidFill>
            <a:ln w="47625">
              <a:solidFill>
                <a:srgbClr val="EA580C"/>
              </a:solidFill>
              <a:custDash>
                <a:ds d="400000" sp="280000"/>
              </a:custDash>
            </a:ln>
          </p:spPr>
        </p:sp>
        <p:sp>
          <p:nvSpPr>
            <p:cNvPr id="7" name="Freeform 7"/>
            <p:cNvSpPr/>
            <p:nvPr/>
          </p:nvSpPr>
          <p:spPr>
            <a:xfrm>
              <a:off x="914400" y="1962150"/>
              <a:ext cx="5791200" cy="3257550"/>
            </a:xfrm>
            <a:custGeom>
              <a:avLst/>
              <a:gdLst/>
              <a:ahLst/>
              <a:cxnLst/>
              <a:rect l="l" t="t" r="r" b="b"/>
              <a:pathLst>
                <a:path w="5791200" h="3257550">
                  <a:moveTo>
                    <a:pt x="171450" y="0"/>
                  </a:moveTo>
                  <a:lnTo>
                    <a:pt x="5619750" y="0"/>
                  </a:lnTo>
                  <a:cubicBezTo>
                    <a:pt x="5714439" y="0"/>
                    <a:pt x="5791200" y="76761"/>
                    <a:pt x="5791200" y="171450"/>
                  </a:cubicBezTo>
                  <a:lnTo>
                    <a:pt x="5791200" y="3086100"/>
                  </a:lnTo>
                  <a:cubicBezTo>
                    <a:pt x="5791200" y="3180789"/>
                    <a:pt x="5714439" y="3257550"/>
                    <a:pt x="5619750" y="3257550"/>
                  </a:cubicBezTo>
                  <a:lnTo>
                    <a:pt x="171450" y="3257550"/>
                  </a:lnTo>
                  <a:cubicBezTo>
                    <a:pt x="76761" y="3257550"/>
                    <a:pt x="0" y="3180789"/>
                    <a:pt x="0" y="30861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EF6FF"/>
            </a:solidFill>
            <a:ln w="28575">
              <a:solidFill>
                <a:srgbClr val="CBD5E1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095500" y="2000250"/>
              <a:ext cx="4343400" cy="2095500"/>
            </a:xfrm>
            <a:custGeom>
              <a:avLst/>
              <a:gdLst/>
              <a:ahLst/>
              <a:cxnLst/>
              <a:rect l="l" t="t" r="r" b="b"/>
              <a:pathLst>
                <a:path w="4343400" h="2095500">
                  <a:moveTo>
                    <a:pt x="0" y="1428750"/>
                  </a:moveTo>
                  <a:cubicBezTo>
                    <a:pt x="800100" y="476250"/>
                    <a:pt x="1638300" y="2095500"/>
                    <a:pt x="2609850" y="952500"/>
                  </a:cubicBezTo>
                  <a:cubicBezTo>
                    <a:pt x="3467100" y="0"/>
                    <a:pt x="3905250" y="2000250"/>
                    <a:pt x="4343400" y="704850"/>
                  </a:cubicBezTo>
                </a:path>
              </a:pathLst>
            </a:custGeom>
            <a:noFill/>
            <a:ln w="66675">
              <a:solidFill>
                <a:srgbClr val="7C3AED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114550" y="2476500"/>
              <a:ext cx="4305300" cy="2343150"/>
            </a:xfrm>
            <a:custGeom>
              <a:avLst/>
              <a:gdLst/>
              <a:ahLst/>
              <a:cxnLst/>
              <a:rect l="l" t="t" r="r" b="b"/>
              <a:pathLst>
                <a:path w="4305300" h="2343150">
                  <a:moveTo>
                    <a:pt x="0" y="1162050"/>
                  </a:moveTo>
                  <a:cubicBezTo>
                    <a:pt x="1047750" y="2343150"/>
                    <a:pt x="1828800" y="0"/>
                    <a:pt x="3028950" y="1504950"/>
                  </a:cubicBezTo>
                  <a:cubicBezTo>
                    <a:pt x="3657600" y="2343150"/>
                    <a:pt x="4152900" y="857250"/>
                    <a:pt x="4305300" y="1924050"/>
                  </a:cubicBezTo>
                </a:path>
              </a:pathLst>
            </a:custGeom>
            <a:noFill/>
            <a:ln w="57150">
              <a:solidFill>
                <a:srgbClr val="2563EB"/>
              </a:solidFill>
              <a:custDash>
                <a:ds d="183333" sp="216666"/>
              </a:custDash>
            </a:ln>
          </p:spPr>
        </p:sp>
        <p:sp>
          <p:nvSpPr>
            <p:cNvPr id="10" name="Ellipse 10"/>
            <p:cNvSpPr/>
            <p:nvPr/>
          </p:nvSpPr>
          <p:spPr>
            <a:xfrm>
              <a:off x="1981200" y="3295650"/>
              <a:ext cx="266700" cy="266700"/>
            </a:xfrm>
            <a:prstGeom prst="ellipse">
              <a:avLst/>
            </a:prstGeom>
            <a:solidFill>
              <a:srgbClr val="FACC15"/>
            </a:solidFill>
            <a:ln w="38100">
              <a:solidFill>
                <a:srgbClr val="EA580C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981200" y="3505200"/>
              <a:ext cx="266700" cy="266700"/>
            </a:xfrm>
            <a:prstGeom prst="ellipse">
              <a:avLst/>
            </a:prstGeom>
            <a:solidFill>
              <a:srgbClr val="FACC15"/>
            </a:solidFill>
            <a:ln w="38100">
              <a:solidFill>
                <a:srgbClr val="2563EB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543300" y="3028950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0" y="0"/>
                  </a:moveTo>
                  <a:lnTo>
                    <a:pt x="0" y="685800"/>
                  </a:lnTo>
                  <a:lnTo>
                    <a:pt x="609600" y="342900"/>
                  </a:ln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206686" y="44805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实验演示片段二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74620" y="48425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展示小球绕行、折返、轨迹变化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429500" y="1619250"/>
            <a:ext cx="4152900" cy="4095750"/>
            <a:chOff x="7429500" y="1619250"/>
            <a:chExt cx="4152900" cy="4095750"/>
          </a:xfrm>
        </p:grpSpPr>
        <p:sp>
          <p:nvSpPr>
            <p:cNvPr id="16" name="Freeform 16"/>
            <p:cNvSpPr/>
            <p:nvPr/>
          </p:nvSpPr>
          <p:spPr>
            <a:xfrm>
              <a:off x="7429500" y="1619250"/>
              <a:ext cx="4152900" cy="4095750"/>
            </a:xfrm>
            <a:custGeom>
              <a:avLst/>
              <a:gdLst/>
              <a:ahLst/>
              <a:cxnLst/>
              <a:rect l="l" t="t" r="r" b="b"/>
              <a:pathLst>
                <a:path w="4152900" h="4095750">
                  <a:moveTo>
                    <a:pt x="247650" y="0"/>
                  </a:moveTo>
                  <a:lnTo>
                    <a:pt x="3905250" y="0"/>
                  </a:lnTo>
                  <a:cubicBezTo>
                    <a:pt x="4042023" y="0"/>
                    <a:pt x="4152900" y="110877"/>
                    <a:pt x="4152900" y="247650"/>
                  </a:cubicBezTo>
                  <a:lnTo>
                    <a:pt x="4152900" y="3848100"/>
                  </a:lnTo>
                  <a:cubicBezTo>
                    <a:pt x="4152900" y="3984873"/>
                    <a:pt x="4042023" y="4095750"/>
                    <a:pt x="3905250" y="4095750"/>
                  </a:cubicBezTo>
                  <a:lnTo>
                    <a:pt x="247650" y="4095750"/>
                  </a:lnTo>
                  <a:cubicBezTo>
                    <a:pt x="110877" y="4095750"/>
                    <a:pt x="0" y="3984873"/>
                    <a:pt x="0" y="3848100"/>
                  </a:cubicBezTo>
                  <a:lnTo>
                    <a:pt x="0" y="247650"/>
                  </a:lnTo>
                  <a:cubicBezTo>
                    <a:pt x="0" y="110877"/>
                    <a:pt x="110877" y="0"/>
                    <a:pt x="2476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95260" y="20802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C3AED"/>
                  </a:solidFill>
                  <a:latin typeface="Microsoft YaHei"/>
                  <a:ea typeface="Microsoft YaHei"/>
                  <a:cs typeface="Microsoft YaHei"/>
                </a:rPr>
                <a:t>确定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23960" y="20802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但难预测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810500" y="2457450"/>
              <a:ext cx="3314700" cy="9525"/>
            </a:xfrm>
            <a:custGeom>
              <a:avLst/>
              <a:gdLst/>
              <a:ahLst/>
              <a:cxnLst/>
              <a:rect l="l" t="t" r="r" b="b"/>
              <a:pathLst>
                <a:path w="3314700" h="9525">
                  <a:moveTo>
                    <a:pt x="0" y="0"/>
                  </a:moveTo>
                  <a:lnTo>
                    <a:pt x="3314700" y="0"/>
                  </a:lnTo>
                </a:path>
              </a:pathLst>
            </a:custGeom>
            <a:noFill/>
            <a:ln w="28575">
              <a:solidFill>
                <a:srgbClr val="D9E2EC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810500" y="2819400"/>
              <a:ext cx="228600" cy="704850"/>
            </a:xfrm>
            <a:custGeom>
              <a:avLst/>
              <a:gdLst/>
              <a:ahLst/>
              <a:cxnLst/>
              <a:rect l="l" t="t" r="r" b="b"/>
              <a:pathLst>
                <a:path w="228600" h="704850">
                  <a:moveTo>
                    <a:pt x="114300" y="0"/>
                  </a:moveTo>
                  <a:lnTo>
                    <a:pt x="114300" y="0"/>
                  </a:lnTo>
                  <a:cubicBezTo>
                    <a:pt x="177426" y="0"/>
                    <a:pt x="228600" y="51174"/>
                    <a:pt x="228600" y="114300"/>
                  </a:cubicBezTo>
                  <a:lnTo>
                    <a:pt x="228600" y="590550"/>
                  </a:lnTo>
                  <a:cubicBezTo>
                    <a:pt x="228600" y="653676"/>
                    <a:pt x="177426" y="704850"/>
                    <a:pt x="114300" y="704850"/>
                  </a:cubicBezTo>
                  <a:lnTo>
                    <a:pt x="114300" y="704850"/>
                  </a:lnTo>
                  <a:cubicBezTo>
                    <a:pt x="51174" y="704850"/>
                    <a:pt x="0" y="653676"/>
                    <a:pt x="0" y="5905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33410" y="29565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不是纯随机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33410" y="33375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仍然受物理规律控制。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7810500" y="3790950"/>
              <a:ext cx="228600" cy="704850"/>
            </a:xfrm>
            <a:custGeom>
              <a:avLst/>
              <a:gdLst/>
              <a:ahLst/>
              <a:cxnLst/>
              <a:rect l="l" t="t" r="r" b="b"/>
              <a:pathLst>
                <a:path w="228600" h="704850">
                  <a:moveTo>
                    <a:pt x="114300" y="0"/>
                  </a:moveTo>
                  <a:lnTo>
                    <a:pt x="114300" y="0"/>
                  </a:lnTo>
                  <a:cubicBezTo>
                    <a:pt x="177426" y="0"/>
                    <a:pt x="228600" y="51174"/>
                    <a:pt x="228600" y="114300"/>
                  </a:cubicBezTo>
                  <a:lnTo>
                    <a:pt x="228600" y="590550"/>
                  </a:lnTo>
                  <a:cubicBezTo>
                    <a:pt x="228600" y="653676"/>
                    <a:pt x="177426" y="704850"/>
                    <a:pt x="114300" y="704850"/>
                  </a:cubicBezTo>
                  <a:lnTo>
                    <a:pt x="114300" y="704850"/>
                  </a:lnTo>
                  <a:cubicBezTo>
                    <a:pt x="51174" y="704850"/>
                    <a:pt x="0" y="653676"/>
                    <a:pt x="0" y="5905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33410" y="39281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敏感初始条件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33410" y="43091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起点差一点，路径差很多。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810500" y="4762500"/>
              <a:ext cx="228600" cy="704850"/>
            </a:xfrm>
            <a:custGeom>
              <a:avLst/>
              <a:gdLst/>
              <a:ahLst/>
              <a:cxnLst/>
              <a:rect l="l" t="t" r="r" b="b"/>
              <a:pathLst>
                <a:path w="228600" h="704850">
                  <a:moveTo>
                    <a:pt x="114300" y="0"/>
                  </a:moveTo>
                  <a:lnTo>
                    <a:pt x="114300" y="0"/>
                  </a:lnTo>
                  <a:cubicBezTo>
                    <a:pt x="177426" y="0"/>
                    <a:pt x="228600" y="51174"/>
                    <a:pt x="228600" y="114300"/>
                  </a:cubicBezTo>
                  <a:lnTo>
                    <a:pt x="228600" y="590550"/>
                  </a:lnTo>
                  <a:cubicBezTo>
                    <a:pt x="228600" y="653676"/>
                    <a:pt x="177426" y="704850"/>
                    <a:pt x="114300" y="704850"/>
                  </a:cubicBezTo>
                  <a:lnTo>
                    <a:pt x="114300" y="704850"/>
                  </a:lnTo>
                  <a:cubicBezTo>
                    <a:pt x="51174" y="704850"/>
                    <a:pt x="0" y="653676"/>
                    <a:pt x="0" y="5905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0D948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33410" y="48996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结局可能不同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33410" y="528066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停在哪个磁铁上不一定。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5962650"/>
            <a:ext cx="10988040" cy="476250"/>
            <a:chOff x="609600" y="5962650"/>
            <a:chExt cx="10988040" cy="476250"/>
          </a:xfrm>
        </p:grpSpPr>
        <p:sp>
          <p:nvSpPr>
            <p:cNvPr id="30" name="Freeform 30"/>
            <p:cNvSpPr/>
            <p:nvPr/>
          </p:nvSpPr>
          <p:spPr>
            <a:xfrm>
              <a:off x="609600" y="5962650"/>
              <a:ext cx="8534400" cy="457200"/>
            </a:xfrm>
            <a:custGeom>
              <a:avLst/>
              <a:gdLst/>
              <a:ahLst/>
              <a:cxnLst/>
              <a:rect l="l" t="t" r="r" b="b"/>
              <a:pathLst>
                <a:path w="8534400" h="457200">
                  <a:moveTo>
                    <a:pt x="228600" y="0"/>
                  </a:moveTo>
                  <a:lnTo>
                    <a:pt x="8305800" y="0"/>
                  </a:lnTo>
                  <a:cubicBezTo>
                    <a:pt x="8432052" y="0"/>
                    <a:pt x="8534400" y="102348"/>
                    <a:pt x="8534400" y="228600"/>
                  </a:cubicBezTo>
                  <a:lnTo>
                    <a:pt x="8534400" y="228600"/>
                  </a:lnTo>
                  <a:cubicBezTo>
                    <a:pt x="8534400" y="354852"/>
                    <a:pt x="8432052" y="457200"/>
                    <a:pt x="8305800" y="457200"/>
                  </a:cubicBezTo>
                  <a:lnTo>
                    <a:pt x="228600" y="457200"/>
                  </a:lnTo>
                  <a:cubicBezTo>
                    <a:pt x="102348" y="457200"/>
                    <a:pt x="0" y="354852"/>
                    <a:pt x="0" y="2286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265360" y="6137910"/>
              <a:ext cx="32228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它看起来像乱动，其实是复杂规律造成的。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31093" y="6195060"/>
              <a:ext cx="5665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06 / 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651510"/>
            <a:ext cx="4722114" cy="662940"/>
            <a:chOff x="594360" y="651510"/>
            <a:chExt cx="4722114" cy="662940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27188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结论：简单装置，也能产生复杂运动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3410" y="1070610"/>
              <a:ext cx="47030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磁混沌摆展示了“确定性规律”和“长期不可预测性”可以同时存在。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1619250"/>
            <a:ext cx="4495800" cy="3924300"/>
            <a:chOff x="609600" y="1619250"/>
            <a:chExt cx="4495800" cy="3924300"/>
          </a:xfrm>
        </p:grpSpPr>
        <p:sp>
          <p:nvSpPr>
            <p:cNvPr id="6" name="Freeform 6"/>
            <p:cNvSpPr/>
            <p:nvPr/>
          </p:nvSpPr>
          <p:spPr>
            <a:xfrm>
              <a:off x="609600" y="1619250"/>
              <a:ext cx="4495800" cy="1104900"/>
            </a:xfrm>
            <a:custGeom>
              <a:avLst/>
              <a:gdLst/>
              <a:ahLst/>
              <a:cxnLst/>
              <a:rect l="l" t="t" r="r" b="b"/>
              <a:pathLst>
                <a:path w="4495800" h="1104900">
                  <a:moveTo>
                    <a:pt x="228600" y="0"/>
                  </a:moveTo>
                  <a:lnTo>
                    <a:pt x="4267200" y="0"/>
                  </a:lnTo>
                  <a:cubicBezTo>
                    <a:pt x="4393452" y="0"/>
                    <a:pt x="4495800" y="102348"/>
                    <a:pt x="4495800" y="228600"/>
                  </a:cubicBezTo>
                  <a:lnTo>
                    <a:pt x="4495800" y="876300"/>
                  </a:lnTo>
                  <a:cubicBezTo>
                    <a:pt x="4495800" y="1002552"/>
                    <a:pt x="4393452" y="1104900"/>
                    <a:pt x="4267200" y="1104900"/>
                  </a:cubicBezTo>
                  <a:lnTo>
                    <a:pt x="228600" y="1104900"/>
                  </a:lnTo>
                  <a:cubicBezTo>
                    <a:pt x="102348" y="1104900"/>
                    <a:pt x="0" y="1002552"/>
                    <a:pt x="0" y="8763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99160" y="19088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一句话总结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9160" y="23088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三个磁铁让轨迹对起点很敏感。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609600" y="3028950"/>
              <a:ext cx="4495800" cy="1104900"/>
            </a:xfrm>
            <a:custGeom>
              <a:avLst/>
              <a:gdLst/>
              <a:ahLst/>
              <a:cxnLst/>
              <a:rect l="l" t="t" r="r" b="b"/>
              <a:pathLst>
                <a:path w="4495800" h="1104900">
                  <a:moveTo>
                    <a:pt x="228600" y="0"/>
                  </a:moveTo>
                  <a:lnTo>
                    <a:pt x="4267200" y="0"/>
                  </a:lnTo>
                  <a:cubicBezTo>
                    <a:pt x="4393452" y="0"/>
                    <a:pt x="4495800" y="102348"/>
                    <a:pt x="4495800" y="228600"/>
                  </a:cubicBezTo>
                  <a:lnTo>
                    <a:pt x="4495800" y="876300"/>
                  </a:lnTo>
                  <a:cubicBezTo>
                    <a:pt x="4495800" y="1002552"/>
                    <a:pt x="4393452" y="1104900"/>
                    <a:pt x="4267200" y="1104900"/>
                  </a:cubicBezTo>
                  <a:lnTo>
                    <a:pt x="228600" y="1104900"/>
                  </a:lnTo>
                  <a:cubicBezTo>
                    <a:pt x="102348" y="1104900"/>
                    <a:pt x="0" y="1002552"/>
                    <a:pt x="0" y="8763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99160" y="33185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实验价值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9160" y="3718560"/>
              <a:ext cx="22867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把抽象的“混沌”变成可见运动。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609600" y="4438650"/>
              <a:ext cx="4495800" cy="1104900"/>
            </a:xfrm>
            <a:custGeom>
              <a:avLst/>
              <a:gdLst/>
              <a:ahLst/>
              <a:cxnLst/>
              <a:rect l="l" t="t" r="r" b="b"/>
              <a:pathLst>
                <a:path w="4495800" h="1104900">
                  <a:moveTo>
                    <a:pt x="228600" y="0"/>
                  </a:moveTo>
                  <a:lnTo>
                    <a:pt x="4267200" y="0"/>
                  </a:lnTo>
                  <a:cubicBezTo>
                    <a:pt x="4393452" y="0"/>
                    <a:pt x="4495800" y="102348"/>
                    <a:pt x="4495800" y="228600"/>
                  </a:cubicBezTo>
                  <a:lnTo>
                    <a:pt x="4495800" y="876300"/>
                  </a:lnTo>
                  <a:cubicBezTo>
                    <a:pt x="4495800" y="1002552"/>
                    <a:pt x="4393452" y="1104900"/>
                    <a:pt x="4267200" y="1104900"/>
                  </a:cubicBezTo>
                  <a:lnTo>
                    <a:pt x="228600" y="1104900"/>
                  </a:lnTo>
                  <a:cubicBezTo>
                    <a:pt x="102348" y="1104900"/>
                    <a:pt x="0" y="1002552"/>
                    <a:pt x="0" y="8763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9160" y="47282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现实联系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9160" y="512826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天气、湍流、交通流也有类似敏感性。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581650" y="1619250"/>
            <a:ext cx="6000750" cy="3371850"/>
            <a:chOff x="5581650" y="1619250"/>
            <a:chExt cx="6000750" cy="3371850"/>
          </a:xfrm>
        </p:grpSpPr>
        <p:sp>
          <p:nvSpPr>
            <p:cNvPr id="16" name="Freeform 16"/>
            <p:cNvSpPr/>
            <p:nvPr/>
          </p:nvSpPr>
          <p:spPr>
            <a:xfrm>
              <a:off x="5581650" y="1619250"/>
              <a:ext cx="6000750" cy="3371850"/>
            </a:xfrm>
            <a:custGeom>
              <a:avLst/>
              <a:gdLst/>
              <a:ahLst/>
              <a:cxnLst/>
              <a:rect l="l" t="t" r="r" b="b"/>
              <a:pathLst>
                <a:path w="6000750" h="3371850">
                  <a:moveTo>
                    <a:pt x="247650" y="0"/>
                  </a:moveTo>
                  <a:lnTo>
                    <a:pt x="5753100" y="0"/>
                  </a:lnTo>
                  <a:cubicBezTo>
                    <a:pt x="5889873" y="0"/>
                    <a:pt x="6000750" y="110877"/>
                    <a:pt x="6000750" y="247650"/>
                  </a:cubicBezTo>
                  <a:lnTo>
                    <a:pt x="6000750" y="3124200"/>
                  </a:lnTo>
                  <a:cubicBezTo>
                    <a:pt x="6000750" y="3260973"/>
                    <a:pt x="5889873" y="3371850"/>
                    <a:pt x="5753100" y="3371850"/>
                  </a:cubicBezTo>
                  <a:lnTo>
                    <a:pt x="247650" y="3371850"/>
                  </a:lnTo>
                  <a:cubicBezTo>
                    <a:pt x="110877" y="3371850"/>
                    <a:pt x="0" y="3260973"/>
                    <a:pt x="0" y="3124200"/>
                  </a:cubicBezTo>
                  <a:lnTo>
                    <a:pt x="0" y="247650"/>
                  </a:lnTo>
                  <a:cubicBezTo>
                    <a:pt x="0" y="110877"/>
                    <a:pt x="110877" y="0"/>
                    <a:pt x="247650" y="0"/>
                  </a:cubicBezTo>
                  <a:close/>
                </a:path>
              </a:pathLst>
            </a:custGeom>
            <a:solidFill>
              <a:srgbClr val="FFFFFF"/>
            </a:solidFill>
            <a:ln w="47625">
              <a:solidFill>
                <a:srgbClr val="EA580C"/>
              </a:solidFill>
              <a:custDash>
                <a:ds d="400000" sp="280000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5886450" y="1962150"/>
              <a:ext cx="5391150" cy="2628900"/>
            </a:xfrm>
            <a:custGeom>
              <a:avLst/>
              <a:gdLst/>
              <a:ahLst/>
              <a:cxnLst/>
              <a:rect l="l" t="t" r="r" b="b"/>
              <a:pathLst>
                <a:path w="5391150" h="2628900">
                  <a:moveTo>
                    <a:pt x="171450" y="0"/>
                  </a:moveTo>
                  <a:lnTo>
                    <a:pt x="5219700" y="0"/>
                  </a:lnTo>
                  <a:cubicBezTo>
                    <a:pt x="5314389" y="0"/>
                    <a:pt x="5391150" y="76761"/>
                    <a:pt x="5391150" y="171450"/>
                  </a:cubicBezTo>
                  <a:lnTo>
                    <a:pt x="5391150" y="2457450"/>
                  </a:lnTo>
                  <a:cubicBezTo>
                    <a:pt x="5391150" y="2552139"/>
                    <a:pt x="5314389" y="2628900"/>
                    <a:pt x="5219700" y="2628900"/>
                  </a:cubicBezTo>
                  <a:lnTo>
                    <a:pt x="171450" y="2628900"/>
                  </a:lnTo>
                  <a:cubicBezTo>
                    <a:pt x="76761" y="2628900"/>
                    <a:pt x="0" y="2552139"/>
                    <a:pt x="0" y="2457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EF6FF"/>
            </a:solidFill>
            <a:ln w="28575">
              <a:solidFill>
                <a:srgbClr val="CBD5E1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324850" y="2838450"/>
              <a:ext cx="571500" cy="571500"/>
            </a:xfrm>
            <a:prstGeom prst="ellipse">
              <a:avLst/>
            </a:prstGeom>
            <a:solidFill>
              <a:srgbClr val="FACC15"/>
            </a:solidFill>
            <a:ln w="38100">
              <a:solidFill>
                <a:srgbClr val="EA580C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229600" y="3409950"/>
              <a:ext cx="762000" cy="7620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EA580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49154" y="377571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S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7448550" y="2324100"/>
              <a:ext cx="2438400" cy="1771650"/>
            </a:xfrm>
            <a:custGeom>
              <a:avLst/>
              <a:gdLst/>
              <a:ahLst/>
              <a:cxnLst/>
              <a:rect l="l" t="t" r="r" b="b"/>
              <a:pathLst>
                <a:path w="2438400" h="1771650">
                  <a:moveTo>
                    <a:pt x="0" y="419100"/>
                  </a:moveTo>
                  <a:cubicBezTo>
                    <a:pt x="800100" y="0"/>
                    <a:pt x="1752600" y="228600"/>
                    <a:pt x="2114550" y="857250"/>
                  </a:cubicBezTo>
                  <a:cubicBezTo>
                    <a:pt x="2438400" y="1409700"/>
                    <a:pt x="1866900" y="1771650"/>
                    <a:pt x="1162050" y="1466850"/>
                  </a:cubicBezTo>
                </a:path>
              </a:pathLst>
            </a:custGeom>
            <a:noFill/>
            <a:ln w="47625">
              <a:solidFill>
                <a:srgbClr val="7C3AED"/>
              </a:solidFill>
              <a:custDash>
                <a:ds d="200000" sp="240000"/>
              </a:custDash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07286" y="24231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实验演示片段三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35240" y="42329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变慢，并停在某个磁铁上方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581650" y="5334000"/>
            <a:ext cx="6000750" cy="609600"/>
            <a:chOff x="5581650" y="5334000"/>
            <a:chExt cx="6000750" cy="609600"/>
          </a:xfrm>
        </p:grpSpPr>
        <p:sp>
          <p:nvSpPr>
            <p:cNvPr id="25" name="Freeform 25"/>
            <p:cNvSpPr/>
            <p:nvPr/>
          </p:nvSpPr>
          <p:spPr>
            <a:xfrm>
              <a:off x="5581650" y="5334000"/>
              <a:ext cx="6000750" cy="609600"/>
            </a:xfrm>
            <a:custGeom>
              <a:avLst/>
              <a:gdLst/>
              <a:ahLst/>
              <a:cxnLst/>
              <a:rect l="l" t="t" r="r" b="b"/>
              <a:pathLst>
                <a:path w="6000750" h="609600">
                  <a:moveTo>
                    <a:pt x="304800" y="0"/>
                  </a:moveTo>
                  <a:lnTo>
                    <a:pt x="5695950" y="0"/>
                  </a:lnTo>
                  <a:cubicBezTo>
                    <a:pt x="5864286" y="0"/>
                    <a:pt x="6000750" y="136464"/>
                    <a:pt x="6000750" y="304800"/>
                  </a:cubicBezTo>
                  <a:lnTo>
                    <a:pt x="6000750" y="304800"/>
                  </a:lnTo>
                  <a:cubicBezTo>
                    <a:pt x="6000750" y="473136"/>
                    <a:pt x="5864286" y="609600"/>
                    <a:pt x="5695950" y="609600"/>
                  </a:cubicBezTo>
                  <a:lnTo>
                    <a:pt x="304800" y="609600"/>
                  </a:lnTo>
                  <a:cubicBezTo>
                    <a:pt x="136464" y="609600"/>
                    <a:pt x="0" y="473136"/>
                    <a:pt x="0" y="3048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42670" y="5594985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复杂现象背后仍有规律。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94360" y="6195060"/>
            <a:ext cx="2430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结尾：小球停下后回到实验结论。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031093" y="6195060"/>
            <a:ext cx="5665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 / 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1136</Words>
  <Application>Microsoft Office PowerPoint</Application>
  <PresentationFormat>宽屏</PresentationFormat>
  <Paragraphs>127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磁混沌摆_五分钟讲解_提交版</dc:title>
  <dc:subject>实验27 磁混沌摆</dc:subject>
  <dc:creator/>
  <cp:keywords/>
  <dc:description/>
  <cp:lastModifiedBy>1906243651@qq.com</cp:lastModifiedBy>
  <cp:revision>2</cp:revision>
  <dcterms:created xsi:type="dcterms:W3CDTF">2026-05-26T23:46:37Z</dcterms:created>
  <dcterms:modified xsi:type="dcterms:W3CDTF">2026-05-26T15:52:23Z</dcterms:modified>
  <cp:category/>
</cp:coreProperties>
</file>