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大家好，我们今天展示的是实验二十七，磁混沌摆。</a:t>
            </a:r>
          </a:p>
          <a:p>
            <a:endParaRPr lang="zh-CN" dirty="0"/>
          </a:p>
          <a:p>
            <a:r>
              <a:rPr lang="zh-CN" dirty="0"/>
              <a:t>这个实验看起来很简单：一个带磁性的摆锤，下面有三个磁铁。我们要观察的是，把小球从偏离平衡的位置释放后，它为什么会走出很复杂的轨迹，并且最后停在某一个磁铁上方。</a:t>
            </a:r>
          </a:p>
          <a:p>
            <a:endParaRPr lang="zh-CN" dirty="0"/>
          </a:p>
          <a:p>
            <a:r>
              <a:rPr lang="zh-CN" dirty="0"/>
              <a:t>这次视频会按照现象观察、视频演示、装置组成、原理解释和结论总结的顺序来讲。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先看实验现象。普通单摆释放以后，轨迹一般比较规则，主要是在一个方向上来回摆动。</a:t>
            </a:r>
          </a:p>
          <a:p>
            <a:endParaRPr lang="zh-CN" dirty="0"/>
          </a:p>
          <a:p>
            <a:r>
              <a:rPr lang="zh-CN" dirty="0"/>
              <a:t>但是磁混沌摆不一样。小球会不断改变方向，有时靠近一个磁铁，有时又被另一个磁铁影响，轨迹会出现弯曲、折返和突然转向。</a:t>
            </a:r>
          </a:p>
          <a:p>
            <a:endParaRPr lang="zh-CN" dirty="0"/>
          </a:p>
          <a:p>
            <a:r>
              <a:rPr lang="zh-CN" dirty="0"/>
              <a:t>同时，由于空气阻力和摩擦会消耗能量，小球不会一直运动。经过一段时间后，它会逐渐慢下来，并最终停在某一个磁铁上方。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这里插入第一段演示视频。</a:t>
            </a:r>
          </a:p>
          <a:p>
            <a:endParaRPr lang="zh-CN" dirty="0"/>
          </a:p>
          <a:p>
            <a:r>
              <a:rPr lang="zh-CN" dirty="0"/>
              <a:t>录制时可以先拍清楚装置和三个磁铁，然后用手把摆锤拉到偏离中心的位置，再松手。</a:t>
            </a:r>
          </a:p>
          <a:p>
            <a:endParaRPr lang="zh-CN" dirty="0"/>
          </a:p>
          <a:p>
            <a:r>
              <a:rPr lang="zh-CN" dirty="0"/>
              <a:t>观看重点是：小球刚开始运动时，轨迹就已经不是普通单摆那种简单弧线，而是很快被磁铁影响，开始出现偏转和绕行。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这个装置主要有三个部分。</a:t>
            </a:r>
          </a:p>
          <a:p>
            <a:endParaRPr lang="zh-CN" dirty="0"/>
          </a:p>
          <a:p>
            <a:r>
              <a:rPr lang="zh-CN" dirty="0"/>
              <a:t>第一是摆锤，它带有磁性，所以会受到下面磁铁的作用。第二是底板上的三个磁铁，它们分布在不同位置。第三是支架和细线，它们让摆锤可以自由摆动。</a:t>
            </a:r>
          </a:p>
          <a:p>
            <a:endParaRPr lang="zh-CN" dirty="0"/>
          </a:p>
          <a:p>
            <a:r>
              <a:rPr lang="zh-CN" dirty="0"/>
              <a:t>实验操作时，我们从一个非平衡位置释放摆锤。因为摆锤一开始的位置不同，它和三个磁铁的距离也不同，所以受到的磁力方向会不断变化。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磁混沌摆不是没有规律地乱动，而是多种力共同作用的结果。</a:t>
            </a:r>
          </a:p>
          <a:p>
            <a:endParaRPr lang="zh-CN" dirty="0"/>
          </a:p>
          <a:p>
            <a:r>
              <a:rPr lang="zh-CN" dirty="0"/>
              <a:t>重力让摆锤倾向于回到最低位置；磁力从不同方向吸引或影响摆锤；阻力和摩擦不断消耗能量，让小球最终停下来。</a:t>
            </a:r>
          </a:p>
          <a:p>
            <a:endParaRPr lang="zh-CN" dirty="0"/>
          </a:p>
          <a:p>
            <a:r>
              <a:rPr lang="zh-CN" dirty="0"/>
              <a:t>最关键的是非线性。小球的位置只要差一点，它和三个磁铁的距离就都会变化，受力方向也会变化。这样的微小差别会在后面的运动中被放大。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这里可以插入第二段演示视频，展示小球绕来绕去、不断改变轨迹的过程。</a:t>
            </a:r>
          </a:p>
          <a:p>
            <a:endParaRPr lang="zh-CN" dirty="0"/>
          </a:p>
          <a:p>
            <a:r>
              <a:rPr lang="zh-CN" dirty="0"/>
              <a:t>所谓混沌，并不是完全随机。小球每一刻仍然受重力、磁力和阻力控制，这些规律是确定的。</a:t>
            </a:r>
          </a:p>
          <a:p>
            <a:endParaRPr lang="zh-CN" dirty="0"/>
          </a:p>
          <a:p>
            <a:r>
              <a:rPr lang="zh-CN" dirty="0"/>
              <a:t>但是它对初始条件非常敏感。释放位置、角度或者速度只要有一点点不同，后面的轨迹就可能明显不同，最后停留的位置也可能不同。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最后总结一下。</a:t>
            </a:r>
          </a:p>
          <a:p>
            <a:endParaRPr lang="zh-CN" dirty="0"/>
          </a:p>
          <a:p>
            <a:r>
              <a:rPr lang="zh-CN" dirty="0"/>
              <a:t>磁混沌摆虽然装置简单，但它能产生很复杂的运动。原因是摆锤同时受到重力、多个磁铁的磁力以及阻力的影响，其中磁力随位置变化很快，使系统对初始条件非常敏感。</a:t>
            </a:r>
          </a:p>
          <a:p>
            <a:endParaRPr lang="zh-CN" dirty="0"/>
          </a:p>
          <a:p>
            <a:r>
              <a:rPr lang="zh-CN" dirty="0"/>
              <a:t>这个实验告诉我们，复杂现象背后并不一定没有规律。规律仍然存在，只是长期预测需要非常精确的初始信息。</a:t>
            </a:r>
          </a:p>
          <a:p>
            <a:endParaRPr lang="zh-CN" dirty="0"/>
          </a:p>
          <a:p>
            <a:r>
              <a:rPr lang="zh-CN" dirty="0"/>
              <a:t>结尾可以插入小球变慢并停在某个磁铁上方的视频画面，作为整个实验的收束。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09600" y="533400"/>
            <a:ext cx="10972800" cy="5791200"/>
          </a:xfrm>
          <a:custGeom>
            <a:avLst/>
            <a:gdLst/>
            <a:ahLst/>
            <a:cxnLst/>
            <a:rect l="l" t="t" r="r" b="b"/>
            <a:pathLst>
              <a:path w="10972800" h="5791200">
                <a:moveTo>
                  <a:pt x="266700" y="0"/>
                </a:moveTo>
                <a:lnTo>
                  <a:pt x="10706100" y="0"/>
                </a:lnTo>
                <a:cubicBezTo>
                  <a:pt x="10853394" y="0"/>
                  <a:pt x="10972800" y="119406"/>
                  <a:pt x="10972800" y="266700"/>
                </a:cubicBezTo>
                <a:lnTo>
                  <a:pt x="10972800" y="5524500"/>
                </a:lnTo>
                <a:cubicBezTo>
                  <a:pt x="10972800" y="5671794"/>
                  <a:pt x="10853394" y="5791200"/>
                  <a:pt x="10706100" y="5791200"/>
                </a:cubicBezTo>
                <a:lnTo>
                  <a:pt x="266700" y="5791200"/>
                </a:lnTo>
                <a:cubicBezTo>
                  <a:pt x="119406" y="5791200"/>
                  <a:pt x="0" y="5671794"/>
                  <a:pt x="0" y="55245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1051560" y="1451610"/>
            <a:ext cx="4229100" cy="2244090"/>
            <a:chOff x="1051560" y="1451610"/>
            <a:chExt cx="4229100" cy="2244090"/>
          </a:xfrm>
        </p:grpSpPr>
        <p:sp>
          <p:nvSpPr>
            <p:cNvPr id="4" name="TextBox 4"/>
            <p:cNvSpPr txBox="1"/>
            <p:nvPr/>
          </p:nvSpPr>
          <p:spPr>
            <a:xfrm>
              <a:off x="1051560" y="1451610"/>
              <a:ext cx="5745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实验 27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51560" y="21945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磁混沌摆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9660" y="2708910"/>
              <a:ext cx="419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一个小球为什么会走出复杂轨迹，最后停在某一个磁铁上？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1066800" y="3295650"/>
              <a:ext cx="2266950" cy="400050"/>
            </a:xfrm>
            <a:custGeom>
              <a:avLst/>
              <a:gdLst/>
              <a:ahLst/>
              <a:cxnLst/>
              <a:rect l="l" t="t" r="r" b="b"/>
              <a:pathLst>
                <a:path w="2266950" h="400050">
                  <a:moveTo>
                    <a:pt x="200025" y="0"/>
                  </a:moveTo>
                  <a:lnTo>
                    <a:pt x="2066925" y="0"/>
                  </a:lnTo>
                  <a:cubicBezTo>
                    <a:pt x="2177396" y="0"/>
                    <a:pt x="2266950" y="89554"/>
                    <a:pt x="2266950" y="200025"/>
                  </a:cubicBezTo>
                  <a:lnTo>
                    <a:pt x="2266950" y="200025"/>
                  </a:lnTo>
                  <a:cubicBezTo>
                    <a:pt x="2266950" y="310496"/>
                    <a:pt x="2177396" y="400050"/>
                    <a:pt x="206692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EEF6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36967" y="3423285"/>
              <a:ext cx="11266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5 分钟讲解视频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62750" y="1466850"/>
            <a:ext cx="3619500" cy="3924300"/>
            <a:chOff x="6762750" y="1466850"/>
            <a:chExt cx="3619500" cy="3924300"/>
          </a:xfrm>
        </p:grpSpPr>
        <p:sp>
          <p:nvSpPr>
            <p:cNvPr id="10" name="Ellipse 10"/>
            <p:cNvSpPr/>
            <p:nvPr/>
          </p:nvSpPr>
          <p:spPr>
            <a:xfrm>
              <a:off x="6762750" y="1771650"/>
              <a:ext cx="3619500" cy="3619500"/>
            </a:xfrm>
            <a:prstGeom prst="ellipse">
              <a:avLst/>
            </a:pr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810500" y="1466850"/>
              <a:ext cx="762000" cy="1866900"/>
            </a:xfrm>
            <a:custGeom>
              <a:avLst/>
              <a:gdLst/>
              <a:ahLst/>
              <a:cxnLst/>
              <a:rect l="l" t="t" r="r" b="b"/>
              <a:pathLst>
                <a:path w="762000" h="1866900">
                  <a:moveTo>
                    <a:pt x="762000" y="0"/>
                  </a:moveTo>
                  <a:lnTo>
                    <a:pt x="0" y="1866900"/>
                  </a:lnTo>
                </a:path>
              </a:pathLst>
            </a:custGeom>
            <a:noFill/>
            <a:ln w="28575">
              <a:solidFill>
                <a:srgbClr val="526070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600950" y="3124200"/>
              <a:ext cx="419100" cy="419100"/>
            </a:xfrm>
            <a:prstGeom prst="ellipse">
              <a:avLst/>
            </a:prstGeom>
            <a:solidFill>
              <a:srgbClr val="FACC15"/>
            </a:solidFill>
            <a:ln w="28575">
              <a:solidFill>
                <a:srgbClr val="EA580C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258175" y="2143125"/>
              <a:ext cx="628650" cy="628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11054" y="24041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924675" y="4048125"/>
              <a:ext cx="628650" cy="628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D948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7554" y="43091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591675" y="4048125"/>
              <a:ext cx="628650" cy="628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A580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4554" y="43091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39000" y="2247900"/>
              <a:ext cx="1333500" cy="1085850"/>
            </a:xfrm>
            <a:custGeom>
              <a:avLst/>
              <a:gdLst/>
              <a:ahLst/>
              <a:cxnLst/>
              <a:rect l="l" t="t" r="r" b="b"/>
              <a:pathLst>
                <a:path w="1333500" h="1085850">
                  <a:moveTo>
                    <a:pt x="571500" y="1085850"/>
                  </a:moveTo>
                  <a:cubicBezTo>
                    <a:pt x="0" y="552450"/>
                    <a:pt x="266700" y="0"/>
                    <a:pt x="1333500" y="209550"/>
                  </a:cubicBezTo>
                </a:path>
              </a:pathLst>
            </a:custGeom>
            <a:noFill/>
            <a:ln w="38100">
              <a:solidFill>
                <a:srgbClr val="2563EB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858000" y="3333750"/>
              <a:ext cx="952500" cy="1028700"/>
            </a:xfrm>
            <a:custGeom>
              <a:avLst/>
              <a:gdLst/>
              <a:ahLst/>
              <a:cxnLst/>
              <a:rect l="l" t="t" r="r" b="b"/>
              <a:pathLst>
                <a:path w="952500" h="1028700">
                  <a:moveTo>
                    <a:pt x="952500" y="0"/>
                  </a:moveTo>
                  <a:cubicBezTo>
                    <a:pt x="0" y="400050"/>
                    <a:pt x="38100" y="1009650"/>
                    <a:pt x="381000" y="1028700"/>
                  </a:cubicBezTo>
                </a:path>
              </a:pathLst>
            </a:custGeom>
            <a:noFill/>
            <a:ln w="38100">
              <a:solidFill>
                <a:srgbClr val="0D948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810500" y="3181350"/>
              <a:ext cx="2095500" cy="1181100"/>
            </a:xfrm>
            <a:custGeom>
              <a:avLst/>
              <a:gdLst/>
              <a:ahLst/>
              <a:cxnLst/>
              <a:rect l="l" t="t" r="r" b="b"/>
              <a:pathLst>
                <a:path w="2095500" h="1181100">
                  <a:moveTo>
                    <a:pt x="0" y="152400"/>
                  </a:moveTo>
                  <a:cubicBezTo>
                    <a:pt x="1047750" y="0"/>
                    <a:pt x="2019300" y="495300"/>
                    <a:pt x="2095500" y="1181100"/>
                  </a:cubicBezTo>
                </a:path>
              </a:pathLst>
            </a:custGeom>
            <a:noFill/>
            <a:ln w="38100">
              <a:solidFill>
                <a:srgbClr val="EA580C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086600" y="1790700"/>
              <a:ext cx="2990850" cy="3219450"/>
            </a:xfrm>
            <a:custGeom>
              <a:avLst/>
              <a:gdLst/>
              <a:ahLst/>
              <a:cxnLst/>
              <a:rect l="l" t="t" r="r" b="b"/>
              <a:pathLst>
                <a:path w="2990850" h="3219450">
                  <a:moveTo>
                    <a:pt x="342900" y="781050"/>
                  </a:moveTo>
                  <a:cubicBezTo>
                    <a:pt x="1676400" y="0"/>
                    <a:pt x="2990850" y="781050"/>
                    <a:pt x="2628900" y="1790700"/>
                  </a:cubicBezTo>
                  <a:cubicBezTo>
                    <a:pt x="2343150" y="2628900"/>
                    <a:pt x="1123950" y="3219450"/>
                    <a:pt x="0" y="2457450"/>
                  </a:cubicBezTo>
                </a:path>
              </a:pathLst>
            </a:custGeom>
            <a:noFill/>
            <a:ln w="28575">
              <a:solidFill>
                <a:srgbClr val="7C3AED"/>
              </a:solidFill>
              <a:custDash>
                <a:ds d="333333" sp="400000"/>
              </a:custDash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51560" y="5581650"/>
            <a:ext cx="10107930" cy="495300"/>
            <a:chOff x="1051560" y="5581650"/>
            <a:chExt cx="10107930" cy="495300"/>
          </a:xfrm>
        </p:grpSpPr>
        <p:sp>
          <p:nvSpPr>
            <p:cNvPr id="24" name="Line 24"/>
            <p:cNvSpPr/>
            <p:nvPr/>
          </p:nvSpPr>
          <p:spPr>
            <a:xfrm>
              <a:off x="1066800" y="5581650"/>
              <a:ext cx="4152900" cy="9525"/>
            </a:xfrm>
            <a:custGeom>
              <a:avLst/>
              <a:gdLst/>
              <a:ahLst/>
              <a:cxnLst/>
              <a:rect l="l" t="t" r="r" b="b"/>
              <a:pathLst>
                <a:path w="4152900" h="9525">
                  <a:moveTo>
                    <a:pt x="0" y="0"/>
                  </a:moveTo>
                  <a:lnTo>
                    <a:pt x="4152900" y="0"/>
                  </a:lnTo>
                </a:path>
              </a:pathLst>
            </a:custGeom>
            <a:noFill/>
            <a:ln w="19050">
              <a:solidFill>
                <a:srgbClr val="D9E2E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1560" y="5833110"/>
              <a:ext cx="3302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结构：现象观察 → 视频演示 → 原理解释 → 结论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32948" y="5833110"/>
              <a:ext cx="5265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01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690110" cy="643890"/>
            <a:chOff x="594360" y="651510"/>
            <a:chExt cx="4690110" cy="64389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先看现象：运动很复杂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51560"/>
              <a:ext cx="4671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普通单摆轨迹比较规则，磁混沌摆会不断弯曲、折返和改变方向。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62100"/>
            <a:ext cx="5581650" cy="4171950"/>
            <a:chOff x="609600" y="1562100"/>
            <a:chExt cx="5581650" cy="4171950"/>
          </a:xfrm>
        </p:grpSpPr>
        <p:sp>
          <p:nvSpPr>
            <p:cNvPr id="6" name="Freeform 6"/>
            <p:cNvSpPr/>
            <p:nvPr/>
          </p:nvSpPr>
          <p:spPr>
            <a:xfrm>
              <a:off x="609600" y="1562100"/>
              <a:ext cx="5581650" cy="4171950"/>
            </a:xfrm>
            <a:custGeom>
              <a:avLst/>
              <a:gdLst/>
              <a:ahLst/>
              <a:cxnLst/>
              <a:rect l="l" t="t" r="r" b="b"/>
              <a:pathLst>
                <a:path w="5581650" h="4171950">
                  <a:moveTo>
                    <a:pt x="228600" y="0"/>
                  </a:moveTo>
                  <a:lnTo>
                    <a:pt x="5353050" y="0"/>
                  </a:lnTo>
                  <a:cubicBezTo>
                    <a:pt x="5479302" y="0"/>
                    <a:pt x="5581650" y="102348"/>
                    <a:pt x="5581650" y="228600"/>
                  </a:cubicBezTo>
                  <a:lnTo>
                    <a:pt x="5581650" y="3943350"/>
                  </a:lnTo>
                  <a:cubicBezTo>
                    <a:pt x="5581650" y="4069602"/>
                    <a:pt x="5479302" y="4171950"/>
                    <a:pt x="5353050" y="4171950"/>
                  </a:cubicBezTo>
                  <a:lnTo>
                    <a:pt x="228600" y="4171950"/>
                  </a:lnTo>
                  <a:cubicBezTo>
                    <a:pt x="102348" y="4171950"/>
                    <a:pt x="0" y="4069602"/>
                    <a:pt x="0" y="394335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71650" y="1962150"/>
              <a:ext cx="3276600" cy="3276600"/>
            </a:xfrm>
            <a:prstGeom prst="ellipse">
              <a:avLst/>
            </a:prstGeom>
            <a:solidFill>
              <a:srgbClr val="EEF6FF"/>
            </a:solidFill>
            <a:ln w="19050">
              <a:solidFill>
                <a:srgbClr val="D9E2EC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3143250" y="20955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48504" y="23088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981200" y="41719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D948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86454" y="43853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324350" y="41719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A580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29604" y="43853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352550" y="1828800"/>
              <a:ext cx="3562350" cy="3105150"/>
            </a:xfrm>
            <a:custGeom>
              <a:avLst/>
              <a:gdLst/>
              <a:ahLst/>
              <a:cxnLst/>
              <a:rect l="l" t="t" r="r" b="b"/>
              <a:pathLst>
                <a:path w="3562350" h="3105150">
                  <a:moveTo>
                    <a:pt x="1428750" y="1257300"/>
                  </a:moveTo>
                  <a:cubicBezTo>
                    <a:pt x="762000" y="590550"/>
                    <a:pt x="1295400" y="0"/>
                    <a:pt x="2057400" y="533400"/>
                  </a:cubicBezTo>
                  <a:cubicBezTo>
                    <a:pt x="2933700" y="1181100"/>
                    <a:pt x="3562350" y="895350"/>
                    <a:pt x="3390900" y="1733550"/>
                  </a:cubicBezTo>
                  <a:cubicBezTo>
                    <a:pt x="3200400" y="2686050"/>
                    <a:pt x="2038350" y="3105150"/>
                    <a:pt x="895350" y="2609850"/>
                  </a:cubicBezTo>
                  <a:cubicBezTo>
                    <a:pt x="0" y="2209800"/>
                    <a:pt x="514350" y="1295400"/>
                    <a:pt x="1428750" y="1257300"/>
                  </a:cubicBezTo>
                </a:path>
              </a:pathLst>
            </a:custGeom>
            <a:noFill/>
            <a:ln w="38100">
              <a:solidFill>
                <a:srgbClr val="7C3AED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781300" y="3086100"/>
              <a:ext cx="1809750" cy="1352550"/>
            </a:xfrm>
            <a:custGeom>
              <a:avLst/>
              <a:gdLst/>
              <a:ahLst/>
              <a:cxnLst/>
              <a:rect l="l" t="t" r="r" b="b"/>
              <a:pathLst>
                <a:path w="1809750" h="1352550">
                  <a:moveTo>
                    <a:pt x="0" y="0"/>
                  </a:moveTo>
                  <a:cubicBezTo>
                    <a:pt x="857250" y="304800"/>
                    <a:pt x="1371600" y="819150"/>
                    <a:pt x="1809750" y="1352550"/>
                  </a:cubicBezTo>
                </a:path>
              </a:pathLst>
            </a:custGeom>
            <a:noFill/>
            <a:ln w="38100">
              <a:solidFill>
                <a:srgbClr val="EA580C"/>
              </a:solidFill>
              <a:custDash>
                <a:ds d="225000" sp="275000"/>
              </a:custDash>
            </a:ln>
          </p:spPr>
        </p:sp>
        <p:sp>
          <p:nvSpPr>
            <p:cNvPr id="16" name="Ellipse 16"/>
            <p:cNvSpPr/>
            <p:nvPr/>
          </p:nvSpPr>
          <p:spPr>
            <a:xfrm>
              <a:off x="2609850" y="2914650"/>
              <a:ext cx="342900" cy="342900"/>
            </a:xfrm>
            <a:prstGeom prst="ellipse">
              <a:avLst/>
            </a:prstGeom>
            <a:solidFill>
              <a:srgbClr val="FACC15"/>
            </a:solidFill>
            <a:ln w="28575">
              <a:solidFill>
                <a:srgbClr val="EA580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7260" y="5261610"/>
              <a:ext cx="419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示意：轨迹不是固定圆弧，而是在三个磁铁间不断被改写。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67500" y="1562100"/>
            <a:ext cx="4914900" cy="3733800"/>
            <a:chOff x="6667500" y="1562100"/>
            <a:chExt cx="4914900" cy="3733800"/>
          </a:xfrm>
        </p:grpSpPr>
        <p:sp>
          <p:nvSpPr>
            <p:cNvPr id="19" name="Freeform 19"/>
            <p:cNvSpPr/>
            <p:nvPr/>
          </p:nvSpPr>
          <p:spPr>
            <a:xfrm>
              <a:off x="6667500" y="1562100"/>
              <a:ext cx="4914900" cy="1028700"/>
            </a:xfrm>
            <a:custGeom>
              <a:avLst/>
              <a:gdLst/>
              <a:ahLst/>
              <a:cxnLst/>
              <a:rect l="l" t="t" r="r" b="b"/>
              <a:pathLst>
                <a:path w="4914900" h="1028700">
                  <a:moveTo>
                    <a:pt x="190500" y="0"/>
                  </a:moveTo>
                  <a:lnTo>
                    <a:pt x="4724400" y="0"/>
                  </a:lnTo>
                  <a:cubicBezTo>
                    <a:pt x="4829610" y="0"/>
                    <a:pt x="4914900" y="85290"/>
                    <a:pt x="4914900" y="190500"/>
                  </a:cubicBezTo>
                  <a:lnTo>
                    <a:pt x="4914900" y="838200"/>
                  </a:lnTo>
                  <a:cubicBezTo>
                    <a:pt x="4914900" y="943410"/>
                    <a:pt x="4829610" y="1028700"/>
                    <a:pt x="4724400" y="1028700"/>
                  </a:cubicBezTo>
                  <a:lnTo>
                    <a:pt x="190500" y="1028700"/>
                  </a:lnTo>
                  <a:cubicBezTo>
                    <a:pt x="85290" y="1028700"/>
                    <a:pt x="0" y="943410"/>
                    <a:pt x="0" y="8382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896100" y="180975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57150" y="0"/>
                  </a:moveTo>
                  <a:lnTo>
                    <a:pt x="57150" y="0"/>
                  </a:lnTo>
                  <a:cubicBezTo>
                    <a:pt x="88713" y="0"/>
                    <a:pt x="114300" y="25587"/>
                    <a:pt x="114300" y="57150"/>
                  </a:cubicBezTo>
                  <a:lnTo>
                    <a:pt x="114300" y="476250"/>
                  </a:lnTo>
                  <a:cubicBezTo>
                    <a:pt x="114300" y="507813"/>
                    <a:pt x="88713" y="533400"/>
                    <a:pt x="57150" y="533400"/>
                  </a:cubicBezTo>
                  <a:lnTo>
                    <a:pt x="57150" y="533400"/>
                  </a:lnTo>
                  <a:cubicBezTo>
                    <a:pt x="25587" y="533400"/>
                    <a:pt x="0" y="507813"/>
                    <a:pt x="0" y="476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85660" y="1813560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1. 方向不断改变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5660" y="213741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小球会突然转向，靠近一个磁铁后又绕开。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667500" y="2914650"/>
              <a:ext cx="4914900" cy="1028700"/>
            </a:xfrm>
            <a:custGeom>
              <a:avLst/>
              <a:gdLst/>
              <a:ahLst/>
              <a:cxnLst/>
              <a:rect l="l" t="t" r="r" b="b"/>
              <a:pathLst>
                <a:path w="4914900" h="1028700">
                  <a:moveTo>
                    <a:pt x="190500" y="0"/>
                  </a:moveTo>
                  <a:lnTo>
                    <a:pt x="4724400" y="0"/>
                  </a:lnTo>
                  <a:cubicBezTo>
                    <a:pt x="4829610" y="0"/>
                    <a:pt x="4914900" y="85290"/>
                    <a:pt x="4914900" y="190500"/>
                  </a:cubicBezTo>
                  <a:lnTo>
                    <a:pt x="4914900" y="838200"/>
                  </a:lnTo>
                  <a:cubicBezTo>
                    <a:pt x="4914900" y="943410"/>
                    <a:pt x="4829610" y="1028700"/>
                    <a:pt x="4724400" y="1028700"/>
                  </a:cubicBezTo>
                  <a:lnTo>
                    <a:pt x="190500" y="1028700"/>
                  </a:lnTo>
                  <a:cubicBezTo>
                    <a:pt x="85290" y="1028700"/>
                    <a:pt x="0" y="943410"/>
                    <a:pt x="0" y="8382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896100" y="31623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57150" y="0"/>
                  </a:moveTo>
                  <a:lnTo>
                    <a:pt x="57150" y="0"/>
                  </a:lnTo>
                  <a:cubicBezTo>
                    <a:pt x="88713" y="0"/>
                    <a:pt x="114300" y="25587"/>
                    <a:pt x="114300" y="57150"/>
                  </a:cubicBezTo>
                  <a:lnTo>
                    <a:pt x="114300" y="476250"/>
                  </a:lnTo>
                  <a:cubicBezTo>
                    <a:pt x="114300" y="507813"/>
                    <a:pt x="88713" y="533400"/>
                    <a:pt x="57150" y="533400"/>
                  </a:cubicBezTo>
                  <a:lnTo>
                    <a:pt x="57150" y="533400"/>
                  </a:lnTo>
                  <a:cubicBezTo>
                    <a:pt x="25587" y="533400"/>
                    <a:pt x="0" y="507813"/>
                    <a:pt x="0" y="476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85660" y="3166110"/>
              <a:ext cx="12738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2. 运动逐渐变慢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85660" y="34899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阻力和摩擦消耗能量，摆动幅度越来越小。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667500" y="4267200"/>
              <a:ext cx="4914900" cy="1028700"/>
            </a:xfrm>
            <a:custGeom>
              <a:avLst/>
              <a:gdLst/>
              <a:ahLst/>
              <a:cxnLst/>
              <a:rect l="l" t="t" r="r" b="b"/>
              <a:pathLst>
                <a:path w="4914900" h="1028700">
                  <a:moveTo>
                    <a:pt x="190500" y="0"/>
                  </a:moveTo>
                  <a:lnTo>
                    <a:pt x="4724400" y="0"/>
                  </a:lnTo>
                  <a:cubicBezTo>
                    <a:pt x="4829610" y="0"/>
                    <a:pt x="4914900" y="85290"/>
                    <a:pt x="4914900" y="190500"/>
                  </a:cubicBezTo>
                  <a:lnTo>
                    <a:pt x="4914900" y="838200"/>
                  </a:lnTo>
                  <a:cubicBezTo>
                    <a:pt x="4914900" y="943410"/>
                    <a:pt x="4829610" y="1028700"/>
                    <a:pt x="4724400" y="1028700"/>
                  </a:cubicBezTo>
                  <a:lnTo>
                    <a:pt x="190500" y="1028700"/>
                  </a:lnTo>
                  <a:cubicBezTo>
                    <a:pt x="85290" y="1028700"/>
                    <a:pt x="0" y="943410"/>
                    <a:pt x="0" y="8382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896100" y="451485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57150" y="0"/>
                  </a:moveTo>
                  <a:lnTo>
                    <a:pt x="57150" y="0"/>
                  </a:lnTo>
                  <a:cubicBezTo>
                    <a:pt x="88713" y="0"/>
                    <a:pt x="114300" y="25587"/>
                    <a:pt x="114300" y="57150"/>
                  </a:cubicBezTo>
                  <a:lnTo>
                    <a:pt x="114300" y="476250"/>
                  </a:lnTo>
                  <a:cubicBezTo>
                    <a:pt x="114300" y="507813"/>
                    <a:pt x="88713" y="533400"/>
                    <a:pt x="57150" y="533400"/>
                  </a:cubicBezTo>
                  <a:lnTo>
                    <a:pt x="57150" y="533400"/>
                  </a:lnTo>
                  <a:cubicBezTo>
                    <a:pt x="25587" y="533400"/>
                    <a:pt x="0" y="507813"/>
                    <a:pt x="0" y="476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85660" y="4518660"/>
              <a:ext cx="19459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3. 最后停在某个磁铁上方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85660" y="48425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结局不是唯一的，和释放条件有关。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94360" y="6195060"/>
            <a:ext cx="11003280" cy="243840"/>
            <a:chOff x="594360" y="6195060"/>
            <a:chExt cx="11003280" cy="243840"/>
          </a:xfrm>
        </p:grpSpPr>
        <p:sp>
          <p:nvSpPr>
            <p:cNvPr id="32" name="TextBox 32"/>
            <p:cNvSpPr txBox="1"/>
            <p:nvPr/>
          </p:nvSpPr>
          <p:spPr>
            <a:xfrm>
              <a:off x="594360" y="619506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讲解提示：这里之后切入第一段横屏演示视频。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31093" y="6195060"/>
              <a:ext cx="5665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02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594360" y="708660"/>
            <a:ext cx="4050030" cy="4853940"/>
            <a:chOff x="594360" y="708660"/>
            <a:chExt cx="4050030" cy="485394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8660"/>
              <a:ext cx="1811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演示 1：释放与初始摆动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127760"/>
              <a:ext cx="4030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先让观众看到：小球一松手，轨迹马上不再像普通单摆。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609600" y="1809750"/>
              <a:ext cx="3333750" cy="742950"/>
            </a:xfrm>
            <a:custGeom>
              <a:avLst/>
              <a:gdLst/>
              <a:ahLst/>
              <a:cxnLst/>
              <a:rect l="l" t="t" r="r" b="b"/>
              <a:pathLst>
                <a:path w="3333750" h="742950">
                  <a:moveTo>
                    <a:pt x="171450" y="0"/>
                  </a:moveTo>
                  <a:lnTo>
                    <a:pt x="3162300" y="0"/>
                  </a:lnTo>
                  <a:cubicBezTo>
                    <a:pt x="3256989" y="0"/>
                    <a:pt x="3333750" y="76761"/>
                    <a:pt x="3333750" y="171450"/>
                  </a:cubicBezTo>
                  <a:lnTo>
                    <a:pt x="3333750" y="571500"/>
                  </a:lnTo>
                  <a:cubicBezTo>
                    <a:pt x="3333750" y="666189"/>
                    <a:pt x="3256989" y="742950"/>
                    <a:pt x="3162300" y="742950"/>
                  </a:cubicBezTo>
                  <a:lnTo>
                    <a:pt x="171450" y="742950"/>
                  </a:lnTo>
                  <a:cubicBezTo>
                    <a:pt x="76761" y="742950"/>
                    <a:pt x="0" y="666189"/>
                    <a:pt x="0" y="5715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09625" y="2076450"/>
              <a:ext cx="209550" cy="2095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65860" y="21183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拍清楚手拉开摆锤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609600" y="2781300"/>
              <a:ext cx="3333750" cy="742950"/>
            </a:xfrm>
            <a:custGeom>
              <a:avLst/>
              <a:gdLst/>
              <a:ahLst/>
              <a:cxnLst/>
              <a:rect l="l" t="t" r="r" b="b"/>
              <a:pathLst>
                <a:path w="3333750" h="742950">
                  <a:moveTo>
                    <a:pt x="171450" y="0"/>
                  </a:moveTo>
                  <a:lnTo>
                    <a:pt x="3162300" y="0"/>
                  </a:lnTo>
                  <a:cubicBezTo>
                    <a:pt x="3256989" y="0"/>
                    <a:pt x="3333750" y="76761"/>
                    <a:pt x="3333750" y="171450"/>
                  </a:cubicBezTo>
                  <a:lnTo>
                    <a:pt x="3333750" y="571500"/>
                  </a:lnTo>
                  <a:cubicBezTo>
                    <a:pt x="3333750" y="666189"/>
                    <a:pt x="3256989" y="742950"/>
                    <a:pt x="3162300" y="742950"/>
                  </a:cubicBezTo>
                  <a:lnTo>
                    <a:pt x="171450" y="742950"/>
                  </a:lnTo>
                  <a:cubicBezTo>
                    <a:pt x="76761" y="742950"/>
                    <a:pt x="0" y="666189"/>
                    <a:pt x="0" y="5715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09625" y="3048000"/>
              <a:ext cx="209550" cy="209550"/>
            </a:xfrm>
            <a:prstGeom prst="ellipse">
              <a:avLst/>
            </a:prstGeom>
            <a:solidFill>
              <a:srgbClr val="0D948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65860" y="30899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松手后观察转向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09600" y="3752850"/>
              <a:ext cx="3333750" cy="742950"/>
            </a:xfrm>
            <a:custGeom>
              <a:avLst/>
              <a:gdLst/>
              <a:ahLst/>
              <a:cxnLst/>
              <a:rect l="l" t="t" r="r" b="b"/>
              <a:pathLst>
                <a:path w="3333750" h="742950">
                  <a:moveTo>
                    <a:pt x="171450" y="0"/>
                  </a:moveTo>
                  <a:lnTo>
                    <a:pt x="3162300" y="0"/>
                  </a:lnTo>
                  <a:cubicBezTo>
                    <a:pt x="3256989" y="0"/>
                    <a:pt x="3333750" y="76761"/>
                    <a:pt x="3333750" y="171450"/>
                  </a:cubicBezTo>
                  <a:lnTo>
                    <a:pt x="3333750" y="571500"/>
                  </a:lnTo>
                  <a:cubicBezTo>
                    <a:pt x="3333750" y="666189"/>
                    <a:pt x="3256989" y="742950"/>
                    <a:pt x="3162300" y="742950"/>
                  </a:cubicBezTo>
                  <a:lnTo>
                    <a:pt x="171450" y="742950"/>
                  </a:lnTo>
                  <a:cubicBezTo>
                    <a:pt x="76761" y="742950"/>
                    <a:pt x="0" y="666189"/>
                    <a:pt x="0" y="5715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09625" y="4019550"/>
              <a:ext cx="209550" cy="20955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65860" y="4061460"/>
              <a:ext cx="12146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保留 20 到 25 秒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09600" y="4953000"/>
              <a:ext cx="3333750" cy="609600"/>
            </a:xfrm>
            <a:custGeom>
              <a:avLst/>
              <a:gdLst/>
              <a:ahLst/>
              <a:cxnLst/>
              <a:rect l="l" t="t" r="r" b="b"/>
              <a:pathLst>
                <a:path w="3333750" h="609600">
                  <a:moveTo>
                    <a:pt x="171450" y="0"/>
                  </a:moveTo>
                  <a:lnTo>
                    <a:pt x="3162300" y="0"/>
                  </a:lnTo>
                  <a:cubicBezTo>
                    <a:pt x="3256989" y="0"/>
                    <a:pt x="3333750" y="76761"/>
                    <a:pt x="3333750" y="171450"/>
                  </a:cubicBezTo>
                  <a:lnTo>
                    <a:pt x="3333750" y="438150"/>
                  </a:lnTo>
                  <a:cubicBezTo>
                    <a:pt x="3333750" y="532839"/>
                    <a:pt x="3256989" y="609600"/>
                    <a:pt x="3162300" y="609600"/>
                  </a:cubicBezTo>
                  <a:lnTo>
                    <a:pt x="171450" y="609600"/>
                  </a:lnTo>
                  <a:cubicBezTo>
                    <a:pt x="76761" y="609600"/>
                    <a:pt x="0" y="532839"/>
                    <a:pt x="0" y="4381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37120" y="51854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讲解重点：从规则到复杂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629150" y="1485900"/>
            <a:ext cx="6858000" cy="4533900"/>
            <a:chOff x="4629150" y="1485900"/>
            <a:chExt cx="6858000" cy="4533900"/>
          </a:xfrm>
        </p:grpSpPr>
        <p:sp>
          <p:nvSpPr>
            <p:cNvPr id="17" name="Freeform 17"/>
            <p:cNvSpPr/>
            <p:nvPr/>
          </p:nvSpPr>
          <p:spPr>
            <a:xfrm>
              <a:off x="4629150" y="1485900"/>
              <a:ext cx="6858000" cy="3857625"/>
            </a:xfrm>
            <a:custGeom>
              <a:avLst/>
              <a:gdLst/>
              <a:ahLst/>
              <a:cxnLst/>
              <a:rect l="l" t="t" r="r" b="b"/>
              <a:pathLst>
                <a:path w="6858000" h="3857625">
                  <a:moveTo>
                    <a:pt x="228600" y="0"/>
                  </a:moveTo>
                  <a:lnTo>
                    <a:pt x="6629400" y="0"/>
                  </a:lnTo>
                  <a:cubicBezTo>
                    <a:pt x="6755652" y="0"/>
                    <a:pt x="6858000" y="102348"/>
                    <a:pt x="6858000" y="228600"/>
                  </a:cubicBezTo>
                  <a:lnTo>
                    <a:pt x="6858000" y="3629025"/>
                  </a:lnTo>
                  <a:cubicBezTo>
                    <a:pt x="6858000" y="3755277"/>
                    <a:pt x="6755652" y="3857625"/>
                    <a:pt x="6629400" y="3857625"/>
                  </a:cubicBezTo>
                  <a:lnTo>
                    <a:pt x="228600" y="3857625"/>
                  </a:lnTo>
                  <a:cubicBezTo>
                    <a:pt x="102348" y="3857625"/>
                    <a:pt x="0" y="3755277"/>
                    <a:pt x="0" y="3629025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EA580C"/>
              </a:solidFill>
              <a:custDash>
                <a:ds d="450000" sp="3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4914900" y="1771650"/>
              <a:ext cx="6286500" cy="3286125"/>
            </a:xfrm>
            <a:custGeom>
              <a:avLst/>
              <a:gdLst/>
              <a:ahLst/>
              <a:cxnLst/>
              <a:rect l="l" t="t" r="r" b="b"/>
              <a:pathLst>
                <a:path w="6286500" h="3286125">
                  <a:moveTo>
                    <a:pt x="152400" y="0"/>
                  </a:moveTo>
                  <a:lnTo>
                    <a:pt x="6134100" y="0"/>
                  </a:lnTo>
                  <a:cubicBezTo>
                    <a:pt x="6218268" y="0"/>
                    <a:pt x="6286500" y="68232"/>
                    <a:pt x="6286500" y="152400"/>
                  </a:cubicBezTo>
                  <a:lnTo>
                    <a:pt x="6286500" y="3133725"/>
                  </a:lnTo>
                  <a:cubicBezTo>
                    <a:pt x="6286500" y="3217893"/>
                    <a:pt x="6218268" y="3286125"/>
                    <a:pt x="6134100" y="3286125"/>
                  </a:cubicBezTo>
                  <a:lnTo>
                    <a:pt x="152400" y="3286125"/>
                  </a:lnTo>
                  <a:cubicBezTo>
                    <a:pt x="68232" y="3286125"/>
                    <a:pt x="0" y="3217893"/>
                    <a:pt x="0" y="313372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7810500" y="2990850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0" y="0"/>
                  </a:moveTo>
                  <a:lnTo>
                    <a:pt x="0" y="857250"/>
                  </a:lnTo>
                  <a:lnTo>
                    <a:pt x="762000" y="428625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88441" y="4290060"/>
              <a:ext cx="11394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横屏演示视频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02780" y="4623435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释放小球，展示初始复杂运动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629150" y="55626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19050">
              <a:solidFill>
                <a:srgbClr val="D9E2E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78714" y="5775960"/>
              <a:ext cx="31588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后期剪辑：把视频直接覆盖在这个 16:9 框内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850130" cy="643890"/>
            <a:chOff x="594360" y="651510"/>
            <a:chExt cx="4850130" cy="64389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27440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实验装置：三个磁铁 + 一个磁性摆锤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51560"/>
              <a:ext cx="4831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装置看起来简单，但多个磁力叠加后，小球的运动会变得很难预测。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524000"/>
            <a:ext cx="6210300" cy="4476750"/>
            <a:chOff x="609600" y="1524000"/>
            <a:chExt cx="6210300" cy="4476750"/>
          </a:xfrm>
        </p:grpSpPr>
        <p:sp>
          <p:nvSpPr>
            <p:cNvPr id="6" name="Freeform 6"/>
            <p:cNvSpPr/>
            <p:nvPr/>
          </p:nvSpPr>
          <p:spPr>
            <a:xfrm>
              <a:off x="609600" y="1524000"/>
              <a:ext cx="6210300" cy="4476750"/>
            </a:xfrm>
            <a:custGeom>
              <a:avLst/>
              <a:gdLst/>
              <a:ahLst/>
              <a:cxnLst/>
              <a:rect l="l" t="t" r="r" b="b"/>
              <a:pathLst>
                <a:path w="6210300" h="4476750">
                  <a:moveTo>
                    <a:pt x="228600" y="0"/>
                  </a:moveTo>
                  <a:lnTo>
                    <a:pt x="5981700" y="0"/>
                  </a:lnTo>
                  <a:cubicBezTo>
                    <a:pt x="6107952" y="0"/>
                    <a:pt x="6210300" y="102348"/>
                    <a:pt x="6210300" y="228600"/>
                  </a:cubicBezTo>
                  <a:lnTo>
                    <a:pt x="6210300" y="4248150"/>
                  </a:lnTo>
                  <a:cubicBezTo>
                    <a:pt x="6210300" y="4374402"/>
                    <a:pt x="6107952" y="4476750"/>
                    <a:pt x="5981700" y="4476750"/>
                  </a:cubicBezTo>
                  <a:lnTo>
                    <a:pt x="228600" y="4476750"/>
                  </a:lnTo>
                  <a:cubicBezTo>
                    <a:pt x="102348" y="4476750"/>
                    <a:pt x="0" y="4374402"/>
                    <a:pt x="0" y="424815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695450" y="539115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47625">
              <a:solidFill>
                <a:srgbClr val="526070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095500" y="209550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32956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52607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095500" y="20955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47625">
              <a:solidFill>
                <a:srgbClr val="52607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714750" y="2095500"/>
              <a:ext cx="457200" cy="1409700"/>
            </a:xfrm>
            <a:custGeom>
              <a:avLst/>
              <a:gdLst/>
              <a:ahLst/>
              <a:cxnLst/>
              <a:rect l="l" t="t" r="r" b="b"/>
              <a:pathLst>
                <a:path w="457200" h="1409700">
                  <a:moveTo>
                    <a:pt x="0" y="0"/>
                  </a:moveTo>
                  <a:lnTo>
                    <a:pt x="457200" y="1409700"/>
                  </a:lnTo>
                </a:path>
              </a:pathLst>
            </a:custGeom>
            <a:noFill/>
            <a:ln w="28575">
              <a:solidFill>
                <a:srgbClr val="526070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962400" y="3295650"/>
              <a:ext cx="419100" cy="419100"/>
            </a:xfrm>
            <a:prstGeom prst="ellipse">
              <a:avLst/>
            </a:prstGeom>
            <a:solidFill>
              <a:srgbClr val="FACC15"/>
            </a:solidFill>
            <a:ln w="28575">
              <a:solidFill>
                <a:srgbClr val="EA580C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667000" y="4514850"/>
              <a:ext cx="3238500" cy="876300"/>
            </a:xfrm>
            <a:prstGeom prst="ellipse">
              <a:avLst/>
            </a:pr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000500" y="4171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224804" y="44043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2800350" y="49720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D948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24654" y="52044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200650" y="49720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A580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24954" y="52044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286250" y="3505200"/>
              <a:ext cx="190500" cy="952500"/>
            </a:xfrm>
            <a:custGeom>
              <a:avLst/>
              <a:gdLst/>
              <a:ahLst/>
              <a:cxnLst/>
              <a:rect l="l" t="t" r="r" b="b"/>
              <a:pathLst>
                <a:path w="190500" h="952500">
                  <a:moveTo>
                    <a:pt x="190500" y="0"/>
                  </a:moveTo>
                  <a:lnTo>
                    <a:pt x="0" y="952500"/>
                  </a:lnTo>
                </a:path>
              </a:pathLst>
            </a:custGeom>
            <a:noFill/>
            <a:ln w="19050">
              <a:solidFill>
                <a:srgbClr val="2563EB"/>
              </a:solidFill>
              <a:custDash>
                <a:ds d="350000" sp="400000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3086100" y="3714750"/>
              <a:ext cx="1085850" cy="1543050"/>
            </a:xfrm>
            <a:custGeom>
              <a:avLst/>
              <a:gdLst/>
              <a:ahLst/>
              <a:cxnLst/>
              <a:rect l="l" t="t" r="r" b="b"/>
              <a:pathLst>
                <a:path w="1085850" h="1543050">
                  <a:moveTo>
                    <a:pt x="1085850" y="0"/>
                  </a:moveTo>
                  <a:lnTo>
                    <a:pt x="0" y="1543050"/>
                  </a:lnTo>
                </a:path>
              </a:pathLst>
            </a:custGeom>
            <a:noFill/>
            <a:ln w="19050">
              <a:solidFill>
                <a:srgbClr val="0D9488"/>
              </a:solidFill>
              <a:custDash>
                <a:ds d="350000" sp="400000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4400550" y="3676650"/>
              <a:ext cx="1085850" cy="1581150"/>
            </a:xfrm>
            <a:custGeom>
              <a:avLst/>
              <a:gdLst/>
              <a:ahLst/>
              <a:cxnLst/>
              <a:rect l="l" t="t" r="r" b="b"/>
              <a:pathLst>
                <a:path w="1085850" h="1581150">
                  <a:moveTo>
                    <a:pt x="0" y="0"/>
                  </a:moveTo>
                  <a:lnTo>
                    <a:pt x="1085850" y="1581150"/>
                  </a:lnTo>
                </a:path>
              </a:pathLst>
            </a:custGeom>
            <a:noFill/>
            <a:ln w="19050">
              <a:solidFill>
                <a:srgbClr val="EA580C"/>
              </a:solidFill>
              <a:custDash>
                <a:ds d="350000" sp="400000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66010" y="17373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支架和细线提供摆动条件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7710" y="35090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磁性摆锤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7610" y="57569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底板上的三个磁铁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39000" y="1638300"/>
            <a:ext cx="4343400" cy="3848100"/>
            <a:chOff x="7239000" y="1638300"/>
            <a:chExt cx="4343400" cy="3848100"/>
          </a:xfrm>
        </p:grpSpPr>
        <p:sp>
          <p:nvSpPr>
            <p:cNvPr id="26" name="Freeform 26"/>
            <p:cNvSpPr/>
            <p:nvPr/>
          </p:nvSpPr>
          <p:spPr>
            <a:xfrm>
              <a:off x="7239000" y="1638300"/>
              <a:ext cx="4343400" cy="1066800"/>
            </a:xfrm>
            <a:custGeom>
              <a:avLst/>
              <a:gdLst/>
              <a:ahLst/>
              <a:cxnLst/>
              <a:rect l="l" t="t" r="r" b="b"/>
              <a:pathLst>
                <a:path w="4343400" h="1066800">
                  <a:moveTo>
                    <a:pt x="190500" y="0"/>
                  </a:moveTo>
                  <a:lnTo>
                    <a:pt x="4152900" y="0"/>
                  </a:lnTo>
                  <a:cubicBezTo>
                    <a:pt x="4258110" y="0"/>
                    <a:pt x="4343400" y="85290"/>
                    <a:pt x="4343400" y="190500"/>
                  </a:cubicBezTo>
                  <a:lnTo>
                    <a:pt x="4343400" y="876300"/>
                  </a:lnTo>
                  <a:cubicBezTo>
                    <a:pt x="4343400" y="981510"/>
                    <a:pt x="4258110" y="1066800"/>
                    <a:pt x="4152900" y="1066800"/>
                  </a:cubicBezTo>
                  <a:lnTo>
                    <a:pt x="190500" y="1066800"/>
                  </a:lnTo>
                  <a:cubicBezTo>
                    <a:pt x="85290" y="1066800"/>
                    <a:pt x="0" y="981510"/>
                    <a:pt x="0" y="876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28560" y="188023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摆锤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8560" y="22326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带有磁性，运动时会被下面磁铁影响。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239000" y="3028950"/>
              <a:ext cx="4343400" cy="1066800"/>
            </a:xfrm>
            <a:custGeom>
              <a:avLst/>
              <a:gdLst/>
              <a:ahLst/>
              <a:cxnLst/>
              <a:rect l="l" t="t" r="r" b="b"/>
              <a:pathLst>
                <a:path w="4343400" h="1066800">
                  <a:moveTo>
                    <a:pt x="190500" y="0"/>
                  </a:moveTo>
                  <a:lnTo>
                    <a:pt x="4152900" y="0"/>
                  </a:lnTo>
                  <a:cubicBezTo>
                    <a:pt x="4258110" y="0"/>
                    <a:pt x="4343400" y="85290"/>
                    <a:pt x="4343400" y="190500"/>
                  </a:cubicBezTo>
                  <a:lnTo>
                    <a:pt x="4343400" y="876300"/>
                  </a:lnTo>
                  <a:cubicBezTo>
                    <a:pt x="4343400" y="981510"/>
                    <a:pt x="4258110" y="1066800"/>
                    <a:pt x="4152900" y="1066800"/>
                  </a:cubicBezTo>
                  <a:lnTo>
                    <a:pt x="190500" y="1066800"/>
                  </a:lnTo>
                  <a:cubicBezTo>
                    <a:pt x="85290" y="1066800"/>
                    <a:pt x="0" y="981510"/>
                    <a:pt x="0" y="876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28560" y="3270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三个磁铁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8560" y="36233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位置不同，给摆锤提供不同方向的磁力。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239000" y="4419600"/>
              <a:ext cx="4343400" cy="1066800"/>
            </a:xfrm>
            <a:custGeom>
              <a:avLst/>
              <a:gdLst/>
              <a:ahLst/>
              <a:cxnLst/>
              <a:rect l="l" t="t" r="r" b="b"/>
              <a:pathLst>
                <a:path w="4343400" h="1066800">
                  <a:moveTo>
                    <a:pt x="190500" y="0"/>
                  </a:moveTo>
                  <a:lnTo>
                    <a:pt x="4152900" y="0"/>
                  </a:lnTo>
                  <a:cubicBezTo>
                    <a:pt x="4258110" y="0"/>
                    <a:pt x="4343400" y="85290"/>
                    <a:pt x="4343400" y="190500"/>
                  </a:cubicBezTo>
                  <a:lnTo>
                    <a:pt x="4343400" y="876300"/>
                  </a:lnTo>
                  <a:cubicBezTo>
                    <a:pt x="4343400" y="981510"/>
                    <a:pt x="4258110" y="1066800"/>
                    <a:pt x="4152900" y="1066800"/>
                  </a:cubicBezTo>
                  <a:lnTo>
                    <a:pt x="190500" y="1066800"/>
                  </a:lnTo>
                  <a:cubicBezTo>
                    <a:pt x="85290" y="1066800"/>
                    <a:pt x="0" y="981510"/>
                    <a:pt x="0" y="876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28560" y="46615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释放位置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28560" y="5013960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从非平衡位置松手，后续轨迹会被放大差异。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370070" cy="643890"/>
            <a:chOff x="594360" y="651510"/>
            <a:chExt cx="4370070" cy="64389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受力原理：不是乱动，而是多种力叠加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51560"/>
              <a:ext cx="4351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小球每一刻都受物理规律控制，只是规律叠加后变得很复杂。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629150" y="2152650"/>
            <a:ext cx="2933700" cy="2609850"/>
            <a:chOff x="4629150" y="2152650"/>
            <a:chExt cx="2933700" cy="2609850"/>
          </a:xfrm>
        </p:grpSpPr>
        <p:sp>
          <p:nvSpPr>
            <p:cNvPr id="6" name="Ellipse 6"/>
            <p:cNvSpPr/>
            <p:nvPr/>
          </p:nvSpPr>
          <p:spPr>
            <a:xfrm>
              <a:off x="5372100" y="2752725"/>
              <a:ext cx="1447800" cy="1447800"/>
            </a:xfrm>
            <a:prstGeom prst="ellipse">
              <a:avLst/>
            </a:pr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848350" y="3228975"/>
              <a:ext cx="495300" cy="495300"/>
            </a:xfrm>
            <a:prstGeom prst="ellipse">
              <a:avLst/>
            </a:prstGeom>
            <a:solidFill>
              <a:srgbClr val="FACC15"/>
            </a:solidFill>
            <a:ln w="28575">
              <a:solidFill>
                <a:srgbClr val="EA580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44718" y="42710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磁性摆锤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0" y="215265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52607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629150" y="347662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6858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563EB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629150" y="3371850"/>
              <a:ext cx="171450" cy="209550"/>
            </a:xfrm>
            <a:custGeom>
              <a:avLst/>
              <a:gdLst/>
              <a:ahLst/>
              <a:cxnLst/>
              <a:rect l="l" t="t" r="r" b="b"/>
              <a:pathLst>
                <a:path w="171450" h="209550">
                  <a:moveTo>
                    <a:pt x="0" y="104775"/>
                  </a:moveTo>
                  <a:lnTo>
                    <a:pt x="171450" y="0"/>
                  </a:lnTo>
                  <a:lnTo>
                    <a:pt x="171450" y="20955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6877050" y="347662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rgbClr val="EA580C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7391400" y="3371850"/>
              <a:ext cx="171450" cy="209550"/>
            </a:xfrm>
            <a:custGeom>
              <a:avLst/>
              <a:gdLst/>
              <a:ahLst/>
              <a:cxnLst/>
              <a:rect l="l" t="t" r="r" b="b"/>
              <a:pathLst>
                <a:path w="171450" h="209550">
                  <a:moveTo>
                    <a:pt x="171450" y="104775"/>
                  </a:moveTo>
                  <a:lnTo>
                    <a:pt x="0" y="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5334000" y="4133850"/>
              <a:ext cx="419100" cy="628650"/>
            </a:xfrm>
            <a:custGeom>
              <a:avLst/>
              <a:gdLst/>
              <a:ahLst/>
              <a:cxnLst/>
              <a:rect l="l" t="t" r="r" b="b"/>
              <a:pathLst>
                <a:path w="419100" h="628650">
                  <a:moveTo>
                    <a:pt x="419100" y="0"/>
                  </a:moveTo>
                  <a:lnTo>
                    <a:pt x="0" y="628650"/>
                  </a:lnTo>
                </a:path>
              </a:pathLst>
            </a:custGeom>
            <a:noFill/>
            <a:ln w="28575">
              <a:solidFill>
                <a:srgbClr val="0D9488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5334000" y="4562475"/>
              <a:ext cx="190500" cy="200025"/>
            </a:xfrm>
            <a:custGeom>
              <a:avLst/>
              <a:gdLst/>
              <a:ahLst/>
              <a:cxnLst/>
              <a:rect l="l" t="t" r="r" b="b"/>
              <a:pathLst>
                <a:path w="190500" h="200025">
                  <a:moveTo>
                    <a:pt x="0" y="200025"/>
                  </a:moveTo>
                  <a:lnTo>
                    <a:pt x="19050" y="0"/>
                  </a:lnTo>
                  <a:lnTo>
                    <a:pt x="190500" y="114300"/>
                  </a:ln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6438900" y="4133850"/>
              <a:ext cx="419100" cy="628650"/>
            </a:xfrm>
            <a:custGeom>
              <a:avLst/>
              <a:gdLst/>
              <a:ahLst/>
              <a:cxnLst/>
              <a:rect l="l" t="t" r="r" b="b"/>
              <a:pathLst>
                <a:path w="419100" h="628650">
                  <a:moveTo>
                    <a:pt x="0" y="0"/>
                  </a:moveTo>
                  <a:lnTo>
                    <a:pt x="419100" y="628650"/>
                  </a:lnTo>
                </a:path>
              </a:pathLst>
            </a:custGeom>
            <a:noFill/>
            <a:ln w="28575">
              <a:solidFill>
                <a:srgbClr val="7C3AED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667500" y="4562475"/>
              <a:ext cx="190500" cy="200025"/>
            </a:xfrm>
            <a:custGeom>
              <a:avLst/>
              <a:gdLst/>
              <a:ahLst/>
              <a:cxnLst/>
              <a:rect l="l" t="t" r="r" b="b"/>
              <a:pathLst>
                <a:path w="190500" h="200025">
                  <a:moveTo>
                    <a:pt x="190500" y="200025"/>
                  </a:moveTo>
                  <a:lnTo>
                    <a:pt x="0" y="11430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09600" y="1714500"/>
            <a:ext cx="10972800" cy="3867150"/>
            <a:chOff x="609600" y="1714500"/>
            <a:chExt cx="10972800" cy="3867150"/>
          </a:xfrm>
        </p:grpSpPr>
        <p:sp>
          <p:nvSpPr>
            <p:cNvPr id="19" name="Freeform 19"/>
            <p:cNvSpPr/>
            <p:nvPr/>
          </p:nvSpPr>
          <p:spPr>
            <a:xfrm>
              <a:off x="609600" y="1714500"/>
              <a:ext cx="4095750" cy="1066800"/>
            </a:xfrm>
            <a:custGeom>
              <a:avLst/>
              <a:gdLst/>
              <a:ahLst/>
              <a:cxnLst/>
              <a:rect l="l" t="t" r="r" b="b"/>
              <a:pathLst>
                <a:path w="4095750" h="1066800">
                  <a:moveTo>
                    <a:pt x="190500" y="0"/>
                  </a:moveTo>
                  <a:lnTo>
                    <a:pt x="3905250" y="0"/>
                  </a:lnTo>
                  <a:cubicBezTo>
                    <a:pt x="4010460" y="0"/>
                    <a:pt x="4095750" y="85290"/>
                    <a:pt x="4095750" y="190500"/>
                  </a:cubicBezTo>
                  <a:lnTo>
                    <a:pt x="4095750" y="876300"/>
                  </a:lnTo>
                  <a:cubicBezTo>
                    <a:pt x="4095750" y="981510"/>
                    <a:pt x="4010460" y="1066800"/>
                    <a:pt x="3905250" y="1066800"/>
                  </a:cubicBezTo>
                  <a:lnTo>
                    <a:pt x="190500" y="1066800"/>
                  </a:lnTo>
                  <a:cubicBezTo>
                    <a:pt x="85290" y="1066800"/>
                    <a:pt x="0" y="981510"/>
                    <a:pt x="0" y="876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9160" y="19659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重力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9160" y="232791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让摆锤倾向于回到最低位置，像普通单摆。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86650" y="1714500"/>
              <a:ext cx="4095750" cy="1066800"/>
            </a:xfrm>
            <a:custGeom>
              <a:avLst/>
              <a:gdLst/>
              <a:ahLst/>
              <a:cxnLst/>
              <a:rect l="l" t="t" r="r" b="b"/>
              <a:pathLst>
                <a:path w="4095750" h="1066800">
                  <a:moveTo>
                    <a:pt x="190500" y="0"/>
                  </a:moveTo>
                  <a:lnTo>
                    <a:pt x="3905250" y="0"/>
                  </a:lnTo>
                  <a:cubicBezTo>
                    <a:pt x="4010460" y="0"/>
                    <a:pt x="4095750" y="85290"/>
                    <a:pt x="4095750" y="190500"/>
                  </a:cubicBezTo>
                  <a:lnTo>
                    <a:pt x="4095750" y="876300"/>
                  </a:lnTo>
                  <a:cubicBezTo>
                    <a:pt x="4095750" y="981510"/>
                    <a:pt x="4010460" y="1066800"/>
                    <a:pt x="3905250" y="1066800"/>
                  </a:cubicBezTo>
                  <a:lnTo>
                    <a:pt x="190500" y="1066800"/>
                  </a:lnTo>
                  <a:cubicBezTo>
                    <a:pt x="85290" y="1066800"/>
                    <a:pt x="0" y="981510"/>
                    <a:pt x="0" y="876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76210" y="19659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磁力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76210" y="23279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三个磁铁从不同方向吸引或影响小球。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09600" y="4514850"/>
              <a:ext cx="4095750" cy="1066800"/>
            </a:xfrm>
            <a:custGeom>
              <a:avLst/>
              <a:gdLst/>
              <a:ahLst/>
              <a:cxnLst/>
              <a:rect l="l" t="t" r="r" b="b"/>
              <a:pathLst>
                <a:path w="4095750" h="1066800">
                  <a:moveTo>
                    <a:pt x="190500" y="0"/>
                  </a:moveTo>
                  <a:lnTo>
                    <a:pt x="3905250" y="0"/>
                  </a:lnTo>
                  <a:cubicBezTo>
                    <a:pt x="4010460" y="0"/>
                    <a:pt x="4095750" y="85290"/>
                    <a:pt x="4095750" y="190500"/>
                  </a:cubicBezTo>
                  <a:lnTo>
                    <a:pt x="4095750" y="876300"/>
                  </a:lnTo>
                  <a:cubicBezTo>
                    <a:pt x="4095750" y="981510"/>
                    <a:pt x="4010460" y="1066800"/>
                    <a:pt x="3905250" y="1066800"/>
                  </a:cubicBezTo>
                  <a:lnTo>
                    <a:pt x="190500" y="1066800"/>
                  </a:lnTo>
                  <a:cubicBezTo>
                    <a:pt x="85290" y="1066800"/>
                    <a:pt x="0" y="981510"/>
                    <a:pt x="0" y="876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9160" y="47663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阻力和摩擦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9160" y="512826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不断消耗能量，所以小球最终会停下来。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486650" y="4514850"/>
              <a:ext cx="4095750" cy="1066800"/>
            </a:xfrm>
            <a:custGeom>
              <a:avLst/>
              <a:gdLst/>
              <a:ahLst/>
              <a:cxnLst/>
              <a:rect l="l" t="t" r="r" b="b"/>
              <a:pathLst>
                <a:path w="4095750" h="1066800">
                  <a:moveTo>
                    <a:pt x="190500" y="0"/>
                  </a:moveTo>
                  <a:lnTo>
                    <a:pt x="3905250" y="0"/>
                  </a:lnTo>
                  <a:cubicBezTo>
                    <a:pt x="4010460" y="0"/>
                    <a:pt x="4095750" y="85290"/>
                    <a:pt x="4095750" y="190500"/>
                  </a:cubicBezTo>
                  <a:lnTo>
                    <a:pt x="4095750" y="876300"/>
                  </a:lnTo>
                  <a:cubicBezTo>
                    <a:pt x="4095750" y="981510"/>
                    <a:pt x="4010460" y="1066800"/>
                    <a:pt x="3905250" y="1066800"/>
                  </a:cubicBezTo>
                  <a:lnTo>
                    <a:pt x="190500" y="1066800"/>
                  </a:lnTo>
                  <a:cubicBezTo>
                    <a:pt x="85290" y="1066800"/>
                    <a:pt x="0" y="981510"/>
                    <a:pt x="0" y="876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76210" y="47663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C3AED"/>
                  </a:solidFill>
                  <a:latin typeface="Microsoft YaHei"/>
                  <a:ea typeface="Microsoft YaHei"/>
                  <a:cs typeface="Microsoft YaHei"/>
                </a:rPr>
                <a:t>非线性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76210" y="512826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位置差一点，受力方向就可能明显不同。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533650" y="5829300"/>
            <a:ext cx="7124700" cy="457200"/>
            <a:chOff x="2533650" y="5829300"/>
            <a:chExt cx="7124700" cy="457200"/>
          </a:xfrm>
        </p:grpSpPr>
        <p:sp>
          <p:nvSpPr>
            <p:cNvPr id="32" name="Freeform 32"/>
            <p:cNvSpPr/>
            <p:nvPr/>
          </p:nvSpPr>
          <p:spPr>
            <a:xfrm>
              <a:off x="2533650" y="5829300"/>
              <a:ext cx="7124700" cy="457200"/>
            </a:xfrm>
            <a:custGeom>
              <a:avLst/>
              <a:gdLst/>
              <a:ahLst/>
              <a:cxnLst/>
              <a:rect l="l" t="t" r="r" b="b"/>
              <a:pathLst>
                <a:path w="7124700" h="457200">
                  <a:moveTo>
                    <a:pt x="228600" y="0"/>
                  </a:moveTo>
                  <a:lnTo>
                    <a:pt x="6896100" y="0"/>
                  </a:lnTo>
                  <a:cubicBezTo>
                    <a:pt x="7022352" y="0"/>
                    <a:pt x="7124700" y="102348"/>
                    <a:pt x="7124700" y="228600"/>
                  </a:cubicBezTo>
                  <a:lnTo>
                    <a:pt x="7124700" y="228600"/>
                  </a:lnTo>
                  <a:cubicBezTo>
                    <a:pt x="7124700" y="354852"/>
                    <a:pt x="7022352" y="457200"/>
                    <a:pt x="6896100" y="457200"/>
                  </a:cubicBezTo>
                  <a:lnTo>
                    <a:pt x="228600" y="457200"/>
                  </a:lnTo>
                  <a:cubicBezTo>
                    <a:pt x="102348" y="457200"/>
                    <a:pt x="0" y="354852"/>
                    <a:pt x="0" y="228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96487" y="5995035"/>
              <a:ext cx="4399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关键句：规律存在，但长期预测需要极其精确的初始条件。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3906012" cy="643890"/>
            <a:chOff x="594360" y="651510"/>
            <a:chExt cx="3906012" cy="64389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为什么叫“混沌”？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51560"/>
              <a:ext cx="38869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混沌不是完全随机，而是“确定系统中的难预测运动”。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600200"/>
            <a:ext cx="6096000" cy="3429000"/>
            <a:chOff x="609600" y="1600200"/>
            <a:chExt cx="6096000" cy="3429000"/>
          </a:xfrm>
        </p:grpSpPr>
        <p:sp>
          <p:nvSpPr>
            <p:cNvPr id="6" name="Freeform 6"/>
            <p:cNvSpPr/>
            <p:nvPr/>
          </p:nvSpPr>
          <p:spPr>
            <a:xfrm>
              <a:off x="609600" y="160020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228600" y="0"/>
                  </a:moveTo>
                  <a:lnTo>
                    <a:pt x="5867400" y="0"/>
                  </a:lnTo>
                  <a:cubicBezTo>
                    <a:pt x="5993652" y="0"/>
                    <a:pt x="6096000" y="102348"/>
                    <a:pt x="6096000" y="228600"/>
                  </a:cubicBezTo>
                  <a:lnTo>
                    <a:pt x="6096000" y="3200400"/>
                  </a:lnTo>
                  <a:cubicBezTo>
                    <a:pt x="6096000" y="3326652"/>
                    <a:pt x="5993652" y="3429000"/>
                    <a:pt x="5867400" y="3429000"/>
                  </a:cubicBezTo>
                  <a:lnTo>
                    <a:pt x="228600" y="3429000"/>
                  </a:lnTo>
                  <a:cubicBezTo>
                    <a:pt x="102348" y="3429000"/>
                    <a:pt x="0" y="3326652"/>
                    <a:pt x="0" y="3200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EA580C"/>
              </a:solidFill>
              <a:custDash>
                <a:ds d="450000" sp="350000"/>
              </a:custDash>
            </a:ln>
          </p:spPr>
        </p:sp>
        <p:sp>
          <p:nvSpPr>
            <p:cNvPr id="7" name="Freeform 7"/>
            <p:cNvSpPr/>
            <p:nvPr/>
          </p:nvSpPr>
          <p:spPr>
            <a:xfrm>
              <a:off x="876300" y="1866900"/>
              <a:ext cx="5562600" cy="2895600"/>
            </a:xfrm>
            <a:custGeom>
              <a:avLst/>
              <a:gdLst/>
              <a:ahLst/>
              <a:cxnLst/>
              <a:rect l="l" t="t" r="r" b="b"/>
              <a:pathLst>
                <a:path w="5562600" h="2895600">
                  <a:moveTo>
                    <a:pt x="152400" y="0"/>
                  </a:moveTo>
                  <a:lnTo>
                    <a:pt x="5410200" y="0"/>
                  </a:lnTo>
                  <a:cubicBezTo>
                    <a:pt x="5494368" y="0"/>
                    <a:pt x="5562600" y="68232"/>
                    <a:pt x="5562600" y="152400"/>
                  </a:cubicBezTo>
                  <a:lnTo>
                    <a:pt x="5562600" y="2743200"/>
                  </a:lnTo>
                  <a:cubicBezTo>
                    <a:pt x="5562600" y="2827368"/>
                    <a:pt x="5494368" y="2895600"/>
                    <a:pt x="5410200" y="2895600"/>
                  </a:cubicBezTo>
                  <a:lnTo>
                    <a:pt x="152400" y="2895600"/>
                  </a:lnTo>
                  <a:cubicBezTo>
                    <a:pt x="68232" y="2895600"/>
                    <a:pt x="0" y="2827368"/>
                    <a:pt x="0" y="27432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90750" y="2114550"/>
              <a:ext cx="3962400" cy="1943100"/>
            </a:xfrm>
            <a:custGeom>
              <a:avLst/>
              <a:gdLst/>
              <a:ahLst/>
              <a:cxnLst/>
              <a:rect l="l" t="t" r="r" b="b"/>
              <a:pathLst>
                <a:path w="3962400" h="1943100">
                  <a:moveTo>
                    <a:pt x="0" y="1219200"/>
                  </a:moveTo>
                  <a:cubicBezTo>
                    <a:pt x="666750" y="457200"/>
                    <a:pt x="1466850" y="1943100"/>
                    <a:pt x="2286000" y="895350"/>
                  </a:cubicBezTo>
                  <a:cubicBezTo>
                    <a:pt x="2990850" y="0"/>
                    <a:pt x="3429000" y="1809750"/>
                    <a:pt x="3962400" y="609600"/>
                  </a:cubicBezTo>
                </a:path>
              </a:pathLst>
            </a:custGeom>
            <a:noFill/>
            <a:ln w="47625">
              <a:solidFill>
                <a:srgbClr val="7C3AED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209800" y="2457450"/>
              <a:ext cx="3981450" cy="2324100"/>
            </a:xfrm>
            <a:custGeom>
              <a:avLst/>
              <a:gdLst/>
              <a:ahLst/>
              <a:cxnLst/>
              <a:rect l="l" t="t" r="r" b="b"/>
              <a:pathLst>
                <a:path w="3981450" h="2324100">
                  <a:moveTo>
                    <a:pt x="0" y="1028700"/>
                  </a:moveTo>
                  <a:cubicBezTo>
                    <a:pt x="876300" y="2038350"/>
                    <a:pt x="1695450" y="0"/>
                    <a:pt x="2667000" y="1428750"/>
                  </a:cubicBezTo>
                  <a:cubicBezTo>
                    <a:pt x="3276600" y="2324100"/>
                    <a:pt x="3867150" y="819150"/>
                    <a:pt x="3981450" y="1809750"/>
                  </a:cubicBezTo>
                </a:path>
              </a:pathLst>
            </a:custGeom>
            <a:noFill/>
            <a:ln w="47625">
              <a:solidFill>
                <a:srgbClr val="2563EB"/>
              </a:solidFill>
              <a:custDash>
                <a:ds d="200000" sp="24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2095500" y="3219450"/>
              <a:ext cx="228600" cy="228600"/>
            </a:xfrm>
            <a:prstGeom prst="ellipse">
              <a:avLst/>
            </a:prstGeom>
            <a:solidFill>
              <a:srgbClr val="FACC15"/>
            </a:solidFill>
            <a:ln w="28575">
              <a:solidFill>
                <a:srgbClr val="EA580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2095500" y="3371850"/>
              <a:ext cx="228600" cy="228600"/>
            </a:xfrm>
            <a:prstGeom prst="ellipse">
              <a:avLst/>
            </a:prstGeom>
            <a:solidFill>
              <a:srgbClr val="FACC15"/>
            </a:solidFill>
            <a:ln w="28575">
              <a:solidFill>
                <a:srgbClr val="2563EB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429000" y="3105150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0" y="0"/>
                  </a:moveTo>
                  <a:lnTo>
                    <a:pt x="0" y="609600"/>
                  </a:lnTo>
                  <a:lnTo>
                    <a:pt x="533400" y="30480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66888" y="427101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横屏演示视频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22220" y="45377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展示小球绕行、折返、轨迹变化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19010" y="1756410"/>
            <a:ext cx="3425190" cy="3234690"/>
            <a:chOff x="7319010" y="1756410"/>
            <a:chExt cx="3425190" cy="3234690"/>
          </a:xfrm>
        </p:grpSpPr>
        <p:sp>
          <p:nvSpPr>
            <p:cNvPr id="16" name="TextBox 16"/>
            <p:cNvSpPr txBox="1"/>
            <p:nvPr/>
          </p:nvSpPr>
          <p:spPr>
            <a:xfrm>
              <a:off x="7319010" y="17564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C3AED"/>
                  </a:solidFill>
                  <a:latin typeface="Microsoft YaHei"/>
                  <a:ea typeface="Microsoft YaHei"/>
                  <a:cs typeface="Microsoft YaHei"/>
                </a:rPr>
                <a:t>确定，但难预测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334250" y="213360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19050">
              <a:solidFill>
                <a:srgbClr val="D9E2E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19010" y="24612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不是纯随机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19010" y="28041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每一刻仍然受重力、磁力、阻力控制。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19010" y="34328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敏感初始条件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19010" y="37757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起点差一点，后面的路径可能差很多。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9010" y="44043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结局可能不同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19010" y="47472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最终停在哪个磁铁上方，不一定相同。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5543550"/>
            <a:ext cx="10972800" cy="514350"/>
            <a:chOff x="609600" y="5543550"/>
            <a:chExt cx="10972800" cy="514350"/>
          </a:xfrm>
        </p:grpSpPr>
        <p:sp>
          <p:nvSpPr>
            <p:cNvPr id="25" name="Freeform 25"/>
            <p:cNvSpPr/>
            <p:nvPr/>
          </p:nvSpPr>
          <p:spPr>
            <a:xfrm>
              <a:off x="609600" y="5543550"/>
              <a:ext cx="10972800" cy="514350"/>
            </a:xfrm>
            <a:custGeom>
              <a:avLst/>
              <a:gdLst/>
              <a:ahLst/>
              <a:cxnLst/>
              <a:rect l="l" t="t" r="r" b="b"/>
              <a:pathLst>
                <a:path w="10972800" h="514350">
                  <a:moveTo>
                    <a:pt x="257175" y="0"/>
                  </a:moveTo>
                  <a:lnTo>
                    <a:pt x="10715625" y="0"/>
                  </a:lnTo>
                  <a:cubicBezTo>
                    <a:pt x="10857659" y="0"/>
                    <a:pt x="10972800" y="115141"/>
                    <a:pt x="10972800" y="257175"/>
                  </a:cubicBezTo>
                  <a:lnTo>
                    <a:pt x="10972800" y="257175"/>
                  </a:lnTo>
                  <a:cubicBezTo>
                    <a:pt x="10972800" y="399209"/>
                    <a:pt x="10857659" y="514350"/>
                    <a:pt x="10715625" y="514350"/>
                  </a:cubicBezTo>
                  <a:lnTo>
                    <a:pt x="257175" y="514350"/>
                  </a:lnTo>
                  <a:cubicBezTo>
                    <a:pt x="115141" y="514350"/>
                    <a:pt x="0" y="399209"/>
                    <a:pt x="0" y="257175"/>
                  </a:cubicBezTo>
                  <a:lnTo>
                    <a:pt x="0" y="257175"/>
                  </a:lnTo>
                  <a:cubicBezTo>
                    <a:pt x="0" y="115141"/>
                    <a:pt x="115141" y="0"/>
                    <a:pt x="257175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48518" y="5747385"/>
              <a:ext cx="3894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讲解句：它看起来像乱动，其实是复杂规律造成的。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722114" cy="643890"/>
            <a:chOff x="594360" y="651510"/>
            <a:chExt cx="4722114" cy="64389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27188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结论：简单装置，也能产生复杂运动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51560"/>
              <a:ext cx="47030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磁混沌摆展示了“确定性规律”和“长期不可预测性”可以同时存在。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4343400" cy="3810000"/>
            <a:chOff x="609600" y="1619250"/>
            <a:chExt cx="4343400" cy="3810000"/>
          </a:xfrm>
        </p:grpSpPr>
        <p:sp>
          <p:nvSpPr>
            <p:cNvPr id="6" name="Freeform 6"/>
            <p:cNvSpPr/>
            <p:nvPr/>
          </p:nvSpPr>
          <p:spPr>
            <a:xfrm>
              <a:off x="609600" y="1619250"/>
              <a:ext cx="4343400" cy="1066800"/>
            </a:xfrm>
            <a:custGeom>
              <a:avLst/>
              <a:gdLst/>
              <a:ahLst/>
              <a:cxnLst/>
              <a:rect l="l" t="t" r="r" b="b"/>
              <a:pathLst>
                <a:path w="4343400" h="1066800">
                  <a:moveTo>
                    <a:pt x="209550" y="0"/>
                  </a:moveTo>
                  <a:lnTo>
                    <a:pt x="4133850" y="0"/>
                  </a:lnTo>
                  <a:cubicBezTo>
                    <a:pt x="4249581" y="0"/>
                    <a:pt x="4343400" y="93819"/>
                    <a:pt x="4343400" y="209550"/>
                  </a:cubicBezTo>
                  <a:lnTo>
                    <a:pt x="4343400" y="857250"/>
                  </a:lnTo>
                  <a:cubicBezTo>
                    <a:pt x="4343400" y="972981"/>
                    <a:pt x="4249581" y="1066800"/>
                    <a:pt x="413385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9160" y="18707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一句话总结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9160" y="2223135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三个磁铁改变受力方向，轨迹对起点很敏感。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609600" y="2990850"/>
              <a:ext cx="4343400" cy="1066800"/>
            </a:xfrm>
            <a:custGeom>
              <a:avLst/>
              <a:gdLst/>
              <a:ahLst/>
              <a:cxnLst/>
              <a:rect l="l" t="t" r="r" b="b"/>
              <a:pathLst>
                <a:path w="4343400" h="1066800">
                  <a:moveTo>
                    <a:pt x="209550" y="0"/>
                  </a:moveTo>
                  <a:lnTo>
                    <a:pt x="4133850" y="0"/>
                  </a:lnTo>
                  <a:cubicBezTo>
                    <a:pt x="4249581" y="0"/>
                    <a:pt x="4343400" y="93819"/>
                    <a:pt x="4343400" y="209550"/>
                  </a:cubicBezTo>
                  <a:lnTo>
                    <a:pt x="4343400" y="857250"/>
                  </a:lnTo>
                  <a:cubicBezTo>
                    <a:pt x="4343400" y="972981"/>
                    <a:pt x="4249581" y="1066800"/>
                    <a:pt x="413385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9160" y="32423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实验价值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9160" y="3594735"/>
              <a:ext cx="30868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把抽象的“混沌”变成可以直接看见的运动。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09600" y="4362450"/>
              <a:ext cx="4343400" cy="1066800"/>
            </a:xfrm>
            <a:custGeom>
              <a:avLst/>
              <a:gdLst/>
              <a:ahLst/>
              <a:cxnLst/>
              <a:rect l="l" t="t" r="r" b="b"/>
              <a:pathLst>
                <a:path w="4343400" h="1066800">
                  <a:moveTo>
                    <a:pt x="209550" y="0"/>
                  </a:moveTo>
                  <a:lnTo>
                    <a:pt x="4133850" y="0"/>
                  </a:lnTo>
                  <a:cubicBezTo>
                    <a:pt x="4249581" y="0"/>
                    <a:pt x="4343400" y="93819"/>
                    <a:pt x="4343400" y="209550"/>
                  </a:cubicBezTo>
                  <a:lnTo>
                    <a:pt x="4343400" y="857250"/>
                  </a:lnTo>
                  <a:cubicBezTo>
                    <a:pt x="4343400" y="972981"/>
                    <a:pt x="4249581" y="1066800"/>
                    <a:pt x="413385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9160" y="4613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现实联系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160" y="4966335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天气、湍流、交通流中也常见类似敏感性。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19750" y="1619250"/>
            <a:ext cx="5962650" cy="3352800"/>
            <a:chOff x="5619750" y="1619250"/>
            <a:chExt cx="5962650" cy="3352800"/>
          </a:xfrm>
        </p:grpSpPr>
        <p:sp>
          <p:nvSpPr>
            <p:cNvPr id="16" name="Freeform 16"/>
            <p:cNvSpPr/>
            <p:nvPr/>
          </p:nvSpPr>
          <p:spPr>
            <a:xfrm>
              <a:off x="5619750" y="1619250"/>
              <a:ext cx="5962650" cy="3352800"/>
            </a:xfrm>
            <a:custGeom>
              <a:avLst/>
              <a:gdLst/>
              <a:ahLst/>
              <a:cxnLst/>
              <a:rect l="l" t="t" r="r" b="b"/>
              <a:pathLst>
                <a:path w="5962650" h="3352800">
                  <a:moveTo>
                    <a:pt x="228600" y="0"/>
                  </a:moveTo>
                  <a:lnTo>
                    <a:pt x="5734050" y="0"/>
                  </a:lnTo>
                  <a:cubicBezTo>
                    <a:pt x="5860302" y="0"/>
                    <a:pt x="5962650" y="102348"/>
                    <a:pt x="5962650" y="228600"/>
                  </a:cubicBezTo>
                  <a:lnTo>
                    <a:pt x="5962650" y="3124200"/>
                  </a:lnTo>
                  <a:cubicBezTo>
                    <a:pt x="5962650" y="3250452"/>
                    <a:pt x="5860302" y="3352800"/>
                    <a:pt x="5734050" y="3352800"/>
                  </a:cubicBezTo>
                  <a:lnTo>
                    <a:pt x="228600" y="3352800"/>
                  </a:lnTo>
                  <a:cubicBezTo>
                    <a:pt x="102348" y="3352800"/>
                    <a:pt x="0" y="3250452"/>
                    <a:pt x="0" y="31242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EA580C"/>
              </a:solidFill>
              <a:custDash>
                <a:ds d="450000" sp="35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5886450" y="1885950"/>
              <a:ext cx="5429250" cy="2819400"/>
            </a:xfrm>
            <a:custGeom>
              <a:avLst/>
              <a:gdLst/>
              <a:ahLst/>
              <a:cxnLst/>
              <a:rect l="l" t="t" r="r" b="b"/>
              <a:pathLst>
                <a:path w="5429250" h="2819400">
                  <a:moveTo>
                    <a:pt x="152400" y="0"/>
                  </a:moveTo>
                  <a:lnTo>
                    <a:pt x="5276850" y="0"/>
                  </a:lnTo>
                  <a:cubicBezTo>
                    <a:pt x="5361018" y="0"/>
                    <a:pt x="5429250" y="68232"/>
                    <a:pt x="5429250" y="152400"/>
                  </a:cubicBezTo>
                  <a:lnTo>
                    <a:pt x="5429250" y="2667000"/>
                  </a:lnTo>
                  <a:cubicBezTo>
                    <a:pt x="5429250" y="2751168"/>
                    <a:pt x="5361018" y="2819400"/>
                    <a:pt x="5276850" y="2819400"/>
                  </a:cubicBezTo>
                  <a:lnTo>
                    <a:pt x="152400" y="2819400"/>
                  </a:lnTo>
                  <a:cubicBezTo>
                    <a:pt x="68232" y="2819400"/>
                    <a:pt x="0" y="2751168"/>
                    <a:pt x="0" y="2667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343900" y="2895600"/>
              <a:ext cx="533400" cy="533400"/>
            </a:xfrm>
            <a:prstGeom prst="ellipse">
              <a:avLst/>
            </a:prstGeom>
            <a:solidFill>
              <a:srgbClr val="FACC15"/>
            </a:solidFill>
            <a:ln w="28575">
              <a:solidFill>
                <a:srgbClr val="EA580C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67700" y="34290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A580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49154" y="37280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7486650" y="2381250"/>
              <a:ext cx="2324100" cy="1657350"/>
            </a:xfrm>
            <a:custGeom>
              <a:avLst/>
              <a:gdLst/>
              <a:ahLst/>
              <a:cxnLst/>
              <a:rect l="l" t="t" r="r" b="b"/>
              <a:pathLst>
                <a:path w="2324100" h="1657350">
                  <a:moveTo>
                    <a:pt x="0" y="381000"/>
                  </a:moveTo>
                  <a:cubicBezTo>
                    <a:pt x="781050" y="0"/>
                    <a:pt x="1676400" y="171450"/>
                    <a:pt x="2038350" y="819150"/>
                  </a:cubicBezTo>
                  <a:cubicBezTo>
                    <a:pt x="2324100" y="1314450"/>
                    <a:pt x="1790700" y="1657350"/>
                    <a:pt x="1123950" y="1390650"/>
                  </a:cubicBezTo>
                </a:path>
              </a:pathLst>
            </a:custGeom>
            <a:noFill/>
            <a:ln w="38100">
              <a:solidFill>
                <a:srgbClr val="7C3AED"/>
              </a:solidFill>
              <a:custDash>
                <a:ds d="225000" sp="275000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19888" y="230886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横屏演示视频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15200" y="42138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小球变慢，并最终停在某个磁铁上方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19750" y="5295900"/>
            <a:ext cx="5962650" cy="647700"/>
            <a:chOff x="5619750" y="5295900"/>
            <a:chExt cx="5962650" cy="647700"/>
          </a:xfrm>
        </p:grpSpPr>
        <p:sp>
          <p:nvSpPr>
            <p:cNvPr id="25" name="Freeform 25"/>
            <p:cNvSpPr/>
            <p:nvPr/>
          </p:nvSpPr>
          <p:spPr>
            <a:xfrm>
              <a:off x="5619750" y="5295900"/>
              <a:ext cx="5962650" cy="647700"/>
            </a:xfrm>
            <a:custGeom>
              <a:avLst/>
              <a:gdLst/>
              <a:ahLst/>
              <a:cxnLst/>
              <a:rect l="l" t="t" r="r" b="b"/>
              <a:pathLst>
                <a:path w="5962650" h="647700">
                  <a:moveTo>
                    <a:pt x="323850" y="0"/>
                  </a:moveTo>
                  <a:lnTo>
                    <a:pt x="5638800" y="0"/>
                  </a:lnTo>
                  <a:cubicBezTo>
                    <a:pt x="5817657" y="0"/>
                    <a:pt x="5962650" y="144993"/>
                    <a:pt x="5962650" y="323850"/>
                  </a:cubicBezTo>
                  <a:lnTo>
                    <a:pt x="5962650" y="323850"/>
                  </a:lnTo>
                  <a:cubicBezTo>
                    <a:pt x="5962650" y="502707"/>
                    <a:pt x="5817657" y="647700"/>
                    <a:pt x="5638800" y="647700"/>
                  </a:cubicBezTo>
                  <a:lnTo>
                    <a:pt x="323850" y="647700"/>
                  </a:lnTo>
                  <a:cubicBezTo>
                    <a:pt x="144993" y="647700"/>
                    <a:pt x="0" y="502707"/>
                    <a:pt x="0" y="323850"/>
                  </a:cubicBezTo>
                  <a:lnTo>
                    <a:pt x="0" y="323850"/>
                  </a:lnTo>
                  <a:cubicBezTo>
                    <a:pt x="0" y="144993"/>
                    <a:pt x="144993" y="0"/>
                    <a:pt x="32385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9635" y="5575935"/>
              <a:ext cx="32228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复杂现象背后仍有规律，只是预测很困难。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94360" y="6195060"/>
            <a:ext cx="32548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结尾建议：视频定格 2 秒，再切回本页总结。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