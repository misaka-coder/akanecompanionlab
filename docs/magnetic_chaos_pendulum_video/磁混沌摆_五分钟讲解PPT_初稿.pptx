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pparatus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785706"/>
            <a:ext cx="5303520" cy="373210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1051560"/>
            <a:ext cx="484632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Microsoft YaHei"/>
              </a:rPr>
              <a:t>实验 27
磁混沌摆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88920"/>
            <a:ext cx="493776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0">
                <a:solidFill>
                  <a:srgbClr val="E2E8F0"/>
                </a:solidFill>
                <a:latin typeface="Microsoft YaHei"/>
              </a:rPr>
              <a:t>一个小球为什么会走出复杂轨迹，最后停在某一个磁铁上？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2286000" cy="365760"/>
          </a:xfrm>
          <a:prstGeom prst="round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9488"/>
                </a:solidFill>
                <a:latin typeface="Microsoft YaHei"/>
              </a:rPr>
              <a:t>5分钟讲解 + 实验演示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5120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Microsoft YaHei"/>
              </a:rPr>
              <a:t>结构：现象观察 -&gt; 实验装置 -&gt; 原理解释 -&gt; 结果与结论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Microsoft YaHe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A202C"/>
                </a:solidFill>
                <a:latin typeface="Microsoft YaHei"/>
              </a:rPr>
              <a:t>先看现象：运动很复杂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2412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25F70"/>
                </a:solidFill>
                <a:latin typeface="Microsoft YaHei"/>
              </a:rPr>
              <a:t>把摆锤从偏离平衡的位置释放，它不会像普通单摆那样规则往复。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21208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pparatus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842" y="1417320"/>
            <a:ext cx="4417995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1417320"/>
            <a:ext cx="50749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19088" y="1581912"/>
            <a:ext cx="4672583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观察到什么？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9088" y="1947672"/>
            <a:ext cx="4672583" cy="3383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202C"/>
                </a:solidFill>
                <a:latin typeface="Microsoft YaHei"/>
              </a:rPr>
              <a:t>摆锤会被三个磁铁共同影响，轨迹不断弯曲、折返、改变方向。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560320"/>
            <a:ext cx="50749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2724912"/>
            <a:ext cx="4672583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D9488"/>
                </a:solidFill>
                <a:latin typeface="Microsoft YaHei"/>
              </a:rPr>
              <a:t>最后会怎样？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3090672"/>
            <a:ext cx="4672583" cy="3383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202C"/>
                </a:solidFill>
                <a:latin typeface="Microsoft YaHei"/>
              </a:rPr>
              <a:t>由于空气阻力和摩擦消耗能量，运动逐渐变慢，最终停在某个磁极上方。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703320"/>
            <a:ext cx="50749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3867911"/>
            <a:ext cx="4672583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A580C"/>
                </a:solidFill>
                <a:latin typeface="Microsoft YaHei"/>
              </a:rPr>
              <a:t>这一点很关键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4233672"/>
            <a:ext cx="4672583" cy="3383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202C"/>
                </a:solidFill>
                <a:latin typeface="Microsoft YaHei"/>
              </a:rPr>
              <a:t>过程看起来“不规则”，但不是没有规律，而是规律非常敏感、很难长期预测。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892040"/>
            <a:ext cx="4572000" cy="365760"/>
          </a:xfrm>
          <a:prstGeom prst="roundRect">
            <a:avLst/>
          </a:prstGeom>
          <a:solidFill>
            <a:srgbClr val="FFEDD5"/>
          </a:solidFill>
          <a:ln>
            <a:solidFill>
              <a:srgbClr val="FFE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EA580C"/>
                </a:solidFill>
                <a:latin typeface="Microsoft YaHei"/>
              </a:rPr>
              <a:t>插入演示视频 1：释放到开始复杂运动，约25秒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6473952"/>
            <a:ext cx="19202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2/7  磁混沌摆五分钟讲解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A202C"/>
                </a:solidFill>
                <a:latin typeface="Microsoft YaHei"/>
              </a:rPr>
              <a:t>实验装置：三个磁铁 + 一个磁性摆锤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2412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25F70"/>
                </a:solidFill>
                <a:latin typeface="Microsoft YaHei"/>
              </a:rPr>
              <a:t>装置本身很简单，但叠加出来的运动并不简单。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417320"/>
            <a:ext cx="4480560" cy="4480560"/>
          </a:xfrm>
          <a:prstGeom prst="ellipse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15768" y="1892807"/>
            <a:ext cx="420624" cy="420624"/>
          </a:xfrm>
          <a:prstGeom prst="ellipse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25496" y="1984248"/>
            <a:ext cx="2011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Microsoft YaHei"/>
              </a:rPr>
              <a:t>N</a:t>
            </a:r>
          </a:p>
        </p:txBody>
      </p:sp>
      <p:sp>
        <p:nvSpPr>
          <p:cNvPr id="7" name="Oval 6"/>
          <p:cNvSpPr/>
          <p:nvPr/>
        </p:nvSpPr>
        <p:spPr>
          <a:xfrm>
            <a:off x="1755648" y="3675887"/>
            <a:ext cx="420624" cy="420624"/>
          </a:xfrm>
          <a:prstGeom prst="ellipse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65376" y="3767328"/>
            <a:ext cx="2011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Microsoft YaHei"/>
              </a:rPr>
              <a:t>N</a:t>
            </a:r>
          </a:p>
        </p:txBody>
      </p:sp>
      <p:sp>
        <p:nvSpPr>
          <p:cNvPr id="9" name="Oval 8"/>
          <p:cNvSpPr/>
          <p:nvPr/>
        </p:nvSpPr>
        <p:spPr>
          <a:xfrm>
            <a:off x="3675887" y="3675887"/>
            <a:ext cx="420624" cy="420624"/>
          </a:xfrm>
          <a:prstGeom prst="ellipse">
            <a:avLst/>
          </a:prstGeom>
          <a:solidFill>
            <a:srgbClr val="FFEDD5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85615" y="3767328"/>
            <a:ext cx="2011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EA580C"/>
                </a:solidFill>
                <a:latin typeface="Microsoft YaHei"/>
              </a:rPr>
              <a:t>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26080" y="914400"/>
            <a:ext cx="320040" cy="214884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108960" y="2926080"/>
            <a:ext cx="320040" cy="320040"/>
          </a:xfrm>
          <a:prstGeom prst="ellipse">
            <a:avLst/>
          </a:prstGeom>
          <a:solidFill>
            <a:srgbClr val="FACC15"/>
          </a:solidFill>
          <a:ln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2194560" y="2560320"/>
            <a:ext cx="1828800" cy="36576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011680" y="2926080"/>
            <a:ext cx="2011680" cy="1097280"/>
          </a:xfrm>
          <a:prstGeom prst="line">
            <a:avLst/>
          </a:prstGeom>
          <a:ln w="2540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011680" y="4023360"/>
            <a:ext cx="2286000" cy="228600"/>
          </a:xfrm>
          <a:prstGeom prst="line">
            <a:avLst/>
          </a:prstGeom>
          <a:ln w="254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2926080" y="2103120"/>
            <a:ext cx="1371600" cy="214884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989320" y="1508760"/>
            <a:ext cx="53035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0488" y="1673351"/>
            <a:ext cx="4901183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摆锤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0488" y="2039112"/>
            <a:ext cx="4901183" cy="20116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202C"/>
                </a:solidFill>
                <a:latin typeface="Microsoft YaHei"/>
              </a:rPr>
              <a:t>小球或摆锤带有磁性，会受到底板磁铁的吸引或排斥。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2514600"/>
            <a:ext cx="53035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0488" y="2679192"/>
            <a:ext cx="4901183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D9488"/>
                </a:solidFill>
                <a:latin typeface="Microsoft YaHei"/>
              </a:rPr>
              <a:t>三个磁铁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0488" y="3044952"/>
            <a:ext cx="4901183" cy="20116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202C"/>
                </a:solidFill>
                <a:latin typeface="Microsoft YaHei"/>
              </a:rPr>
              <a:t>磁铁位置不在同一直线上，摆锤受到的磁力方向不断变化。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3520440"/>
            <a:ext cx="53035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0488" y="3685032"/>
            <a:ext cx="4901183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A580C"/>
                </a:solidFill>
                <a:latin typeface="Microsoft YaHei"/>
              </a:rPr>
              <a:t>释放方式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0488" y="4050791"/>
            <a:ext cx="4901183" cy="20116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202C"/>
                </a:solidFill>
                <a:latin typeface="Microsoft YaHei"/>
              </a:rPr>
              <a:t>从静止、非平衡位置释放，多试几次，比较轨迹和最终停留位置。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800600"/>
            <a:ext cx="3931920" cy="365760"/>
          </a:xfrm>
          <a:prstGeom prst="round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9488"/>
                </a:solidFill>
                <a:latin typeface="Microsoft YaHei"/>
              </a:rPr>
              <a:t>拍摄建议：先给装置一个5秒特写，再放手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6473952"/>
            <a:ext cx="19202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3/7  磁混沌摆五分钟讲解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A202C"/>
                </a:solidFill>
                <a:latin typeface="Microsoft YaHei"/>
              </a:rPr>
              <a:t>受力原理：多种力叠加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2412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25F70"/>
                </a:solidFill>
                <a:latin typeface="Microsoft YaHei"/>
              </a:rPr>
              <a:t>磁混沌摆不是“乱动”，而是在几个确定因素共同作用下运动。</a:t>
            </a:r>
          </a:p>
        </p:txBody>
      </p:sp>
      <p:sp>
        <p:nvSpPr>
          <p:cNvPr id="4" name="Oval 3"/>
          <p:cNvSpPr/>
          <p:nvPr/>
        </p:nvSpPr>
        <p:spPr>
          <a:xfrm>
            <a:off x="5715000" y="2880360"/>
            <a:ext cx="502920" cy="502920"/>
          </a:xfrm>
          <a:prstGeom prst="ellipse">
            <a:avLst/>
          </a:prstGeom>
          <a:solidFill>
            <a:srgbClr val="FACC15"/>
          </a:solidFill>
          <a:ln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50992" y="3456432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525F70"/>
                </a:solidFill>
                <a:latin typeface="Microsoft YaHei"/>
              </a:rPr>
              <a:t>摆锤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840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764792"/>
            <a:ext cx="343814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重力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130552"/>
            <a:ext cx="3438144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202C"/>
                </a:solidFill>
                <a:latin typeface="Microsoft YaHei"/>
              </a:rPr>
              <a:t>让摆锤倾向于回到最低位置，像普通单摆一样往复。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26280" y="2103120"/>
            <a:ext cx="1188720" cy="96012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85800" y="3840480"/>
            <a:ext cx="3840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4005072"/>
            <a:ext cx="343814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D9488"/>
                </a:solidFill>
                <a:latin typeface="Microsoft YaHei"/>
              </a:rPr>
              <a:t>阻力/摩擦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4370832"/>
            <a:ext cx="3438144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202C"/>
                </a:solidFill>
                <a:latin typeface="Microsoft YaHei"/>
              </a:rPr>
              <a:t>空气阻力和转轴摩擦会消耗能量，所以摆动越来越慢。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4526280" y="3154680"/>
            <a:ext cx="1188720" cy="1188720"/>
          </a:xfrm>
          <a:prstGeom prst="line">
            <a:avLst/>
          </a:prstGeom>
          <a:ln w="2286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452360" y="1600200"/>
            <a:ext cx="3840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53528" y="1764792"/>
            <a:ext cx="343814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A580C"/>
                </a:solidFill>
                <a:latin typeface="Microsoft YaHei"/>
              </a:rPr>
              <a:t>磁力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3528" y="2130552"/>
            <a:ext cx="3438144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202C"/>
                </a:solidFill>
                <a:latin typeface="Microsoft YaHei"/>
              </a:rPr>
              <a:t>三个磁铁从不同方向影响摆锤，距离越近作用越明显。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6217920" y="2103120"/>
            <a:ext cx="1234440" cy="960120"/>
          </a:xfrm>
          <a:prstGeom prst="line">
            <a:avLst/>
          </a:prstGeom>
          <a:ln w="228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52360" y="3840480"/>
            <a:ext cx="3840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53528" y="4005072"/>
            <a:ext cx="343814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Microsoft YaHei"/>
              </a:rPr>
              <a:t>非线性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3528" y="4370832"/>
            <a:ext cx="3438144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202C"/>
                </a:solidFill>
                <a:latin typeface="Microsoft YaHei"/>
              </a:rPr>
              <a:t>磁力随位置变化很快，微小位置差别会逐渐被放大。</a:t>
            </a:r>
          </a:p>
        </p:txBody>
      </p:sp>
      <p:cxnSp>
        <p:nvCxnSpPr>
          <p:cNvPr id="21" name="Connector 20"/>
          <p:cNvCxnSpPr/>
          <p:nvPr/>
        </p:nvCxnSpPr>
        <p:spPr>
          <a:xfrm flipH="1" flipV="1">
            <a:off x="6217920" y="3154680"/>
            <a:ext cx="1234440" cy="118872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154680" y="5349240"/>
            <a:ext cx="589788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1A202C"/>
                </a:solidFill>
                <a:latin typeface="Microsoft YaHei"/>
              </a:rPr>
              <a:t>普通单摆：主要受重力，轨迹较规则
磁混沌摆：重力 + 多个磁力 + 阻力，轨迹更复杂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6473952"/>
            <a:ext cx="19202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4/7  磁混沌摆五分钟讲解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A202C"/>
                </a:solidFill>
                <a:latin typeface="Microsoft YaHei"/>
              </a:rPr>
              <a:t>为什么叫“混沌”？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2412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25F70"/>
                </a:solidFill>
                <a:latin typeface="Microsoft YaHei"/>
              </a:rPr>
              <a:t>混沌不是完全随机，而是“确定系统中的难预测运动”。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520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581912"/>
            <a:ext cx="311810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不是纯随机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947672"/>
            <a:ext cx="3118104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202C"/>
                </a:solidFill>
                <a:latin typeface="Microsoft YaHei"/>
              </a:rPr>
              <a:t>摆锤每一刻都受物理规律控制，力的来源是确定的。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3520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953512"/>
            <a:ext cx="311810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A580C"/>
                </a:solidFill>
                <a:latin typeface="Microsoft YaHei"/>
              </a:rPr>
              <a:t>但难以长期预测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319272"/>
            <a:ext cx="3118104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202C"/>
                </a:solidFill>
                <a:latin typeface="Microsoft YaHei"/>
              </a:rPr>
              <a:t>只要释放位置、角度或速度有一点点差别，后面的轨迹就可能明显不同。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60520"/>
            <a:ext cx="3520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4325112"/>
            <a:ext cx="311810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D9488"/>
                </a:solidFill>
                <a:latin typeface="Microsoft YaHei"/>
              </a:rPr>
              <a:t>最终状态不唯一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690872"/>
            <a:ext cx="3118104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202C"/>
                </a:solidFill>
                <a:latin typeface="Microsoft YaHei"/>
              </a:rPr>
              <a:t>同样是释放摆锤，最后可能停在三个磁铁中的不同一个上方。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1417320"/>
            <a:ext cx="612648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14032" y="1901951"/>
            <a:ext cx="402336" cy="402336"/>
          </a:xfrm>
          <a:prstGeom prst="ellipse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08192" y="4142232"/>
            <a:ext cx="402336" cy="402336"/>
          </a:xfrm>
          <a:prstGeom prst="ellipse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48471" y="4050792"/>
            <a:ext cx="402336" cy="402336"/>
          </a:xfrm>
          <a:prstGeom prst="ellipse">
            <a:avLst/>
          </a:prstGeom>
          <a:solidFill>
            <a:srgbClr val="F1F5F9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95160" y="2971800"/>
            <a:ext cx="118872" cy="11887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22008" y="267004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Microsoft YaHei"/>
              </a:rPr>
              <a:t>A</a:t>
            </a:r>
          </a:p>
        </p:txBody>
      </p:sp>
      <p:sp>
        <p:nvSpPr>
          <p:cNvPr id="19" name="Oval 18"/>
          <p:cNvSpPr/>
          <p:nvPr/>
        </p:nvSpPr>
        <p:spPr>
          <a:xfrm>
            <a:off x="7150608" y="2999232"/>
            <a:ext cx="118872" cy="118872"/>
          </a:xfrm>
          <a:prstGeom prst="ellipse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77456" y="2697479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EA580C"/>
                </a:solidFill>
                <a:latin typeface="Microsoft YaHei"/>
              </a:rPr>
              <a:t>B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7059168" y="2651760"/>
            <a:ext cx="576072" cy="374904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7269480" y="2057400"/>
            <a:ext cx="365760" cy="59436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269480" y="2057400"/>
            <a:ext cx="822960" cy="32004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092440" y="2377440"/>
            <a:ext cx="502920" cy="169164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6537960" y="3054096"/>
            <a:ext cx="676656" cy="374904"/>
          </a:xfrm>
          <a:prstGeom prst="line">
            <a:avLst/>
          </a:prstGeom>
          <a:ln w="2540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6236208" y="3429000"/>
            <a:ext cx="301752" cy="777240"/>
          </a:xfrm>
          <a:prstGeom prst="line">
            <a:avLst/>
          </a:prstGeom>
          <a:ln w="2540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236208" y="3886200"/>
            <a:ext cx="713232" cy="320040"/>
          </a:xfrm>
          <a:prstGeom prst="line">
            <a:avLst/>
          </a:prstGeom>
          <a:ln w="2540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949440" y="2240280"/>
            <a:ext cx="457200" cy="1645920"/>
          </a:xfrm>
          <a:prstGeom prst="line">
            <a:avLst/>
          </a:prstGeom>
          <a:ln w="2540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32520" y="1691640"/>
            <a:ext cx="1874519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1A202C"/>
                </a:solidFill>
                <a:latin typeface="Microsoft YaHei"/>
              </a:rPr>
              <a:t>两个几乎相同的起点
可能走向不同结局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4983480"/>
            <a:ext cx="4023360" cy="365760"/>
          </a:xfrm>
          <a:prstGeom prst="roundRect">
            <a:avLst/>
          </a:prstGeom>
          <a:solidFill>
            <a:srgbClr val="FFEDD5"/>
          </a:solidFill>
          <a:ln>
            <a:solidFill>
              <a:srgbClr val="FFE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EA580C"/>
                </a:solidFill>
                <a:latin typeface="Microsoft YaHei"/>
              </a:rPr>
              <a:t>插入演示视频 2：连续两次释放，约35秒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6473952"/>
            <a:ext cx="19202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5/7  磁混沌摆五分钟讲解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A202C"/>
                </a:solidFill>
                <a:latin typeface="Microsoft YaHei"/>
              </a:rPr>
              <a:t>我们的观察记录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2412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25F70"/>
                </a:solidFill>
                <a:latin typeface="Microsoft YaHei"/>
              </a:rPr>
              <a:t>实验说明中提到：摆锤会作复杂运动，约2分钟后停在某个磁极上方。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47091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sult_observ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020" y="1325880"/>
            <a:ext cx="3542718" cy="4434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715000" y="1325880"/>
            <a:ext cx="54406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inciple_sheet_rotat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5056" y="1325880"/>
            <a:ext cx="1580567" cy="2057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715000" y="3657600"/>
            <a:ext cx="54406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16168" y="3822191"/>
            <a:ext cx="503834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记录角度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6168" y="4187952"/>
            <a:ext cx="5038344" cy="24688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202C"/>
                </a:solidFill>
                <a:latin typeface="Microsoft YaHei"/>
              </a:rPr>
              <a:t>从不同位置释放，比较最终停在哪个磁铁上方。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4663440"/>
            <a:ext cx="54406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16168" y="4828031"/>
            <a:ext cx="503834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D9488"/>
                </a:solidFill>
                <a:latin typeface="Microsoft YaHei"/>
              </a:rPr>
              <a:t>记录角度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6168" y="5193792"/>
            <a:ext cx="5038344" cy="24688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202C"/>
                </a:solidFill>
                <a:latin typeface="Microsoft YaHei"/>
              </a:rPr>
              <a:t>同一位置附近重复释放，观察轨迹是否仍然完全一样。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715000"/>
            <a:ext cx="4389120" cy="365760"/>
          </a:xfrm>
          <a:prstGeom prst="round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9488"/>
                </a:solidFill>
                <a:latin typeface="Microsoft YaHei"/>
              </a:rPr>
              <a:t>插入演示视频 3：最后变慢并停下，约30秒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46920" y="6473952"/>
            <a:ext cx="19202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6/7  磁混沌摆五分钟讲解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A202C"/>
                </a:solidFill>
                <a:latin typeface="Microsoft YaHei"/>
              </a:rPr>
              <a:t>结论：简单装置，也能产生复杂运动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2412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25F70"/>
                </a:solidFill>
                <a:latin typeface="Microsoft YaHei"/>
              </a:rPr>
              <a:t>磁混沌摆展示了“确定性规律”和“长期不可预测性”可以同时存在。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508760"/>
            <a:ext cx="3429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1673351"/>
            <a:ext cx="302666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一句话总结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" y="2039112"/>
            <a:ext cx="3026664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202C"/>
                </a:solidFill>
                <a:latin typeface="Microsoft YaHei"/>
              </a:rPr>
              <a:t>三个磁铁改变了摆锤的受力方向，使轨迹对初始条件非常敏感。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508760"/>
            <a:ext cx="3429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673351"/>
            <a:ext cx="302666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A580C"/>
                </a:solidFill>
                <a:latin typeface="Microsoft YaHei"/>
              </a:rPr>
              <a:t>实验价值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8576" y="2039112"/>
            <a:ext cx="3026664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202C"/>
                </a:solidFill>
                <a:latin typeface="Microsoft YaHei"/>
              </a:rPr>
              <a:t>它把抽象的“混沌”变成可以直接看见的运动轨迹。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08760"/>
            <a:ext cx="3429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673351"/>
            <a:ext cx="302666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D9488"/>
                </a:solidFill>
                <a:latin typeface="Microsoft YaHei"/>
              </a:rPr>
              <a:t>现实联系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7888" y="2039112"/>
            <a:ext cx="3026664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202C"/>
                </a:solidFill>
                <a:latin typeface="Microsoft YaHei"/>
              </a:rPr>
              <a:t>天气、湍流、生态系统、交通流等复杂系统中，也常见类似的敏感性。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246120"/>
            <a:ext cx="987552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600" b="1">
                <a:solidFill>
                  <a:srgbClr val="1A202C"/>
                </a:solidFill>
                <a:latin typeface="Microsoft YaHei"/>
              </a:rPr>
              <a:t>所以，这个实验最想告诉我们的不是“小球乱动”，而是：
复杂现象背后仍有规律，只是预测它需要非常精确的初始信息。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4754880"/>
            <a:ext cx="3840480" cy="365760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7C3AED"/>
                </a:solidFill>
                <a:latin typeface="Microsoft YaHei"/>
              </a:rPr>
              <a:t>结尾可用演示视频定格：小球停在某一磁铁上方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5577840"/>
            <a:ext cx="24688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563EB"/>
                </a:solidFill>
                <a:latin typeface="Microsoft YaHei"/>
              </a:rPr>
              <a:t>谢谢观看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6473952"/>
            <a:ext cx="19202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7/7  磁混沌摆五分钟讲解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